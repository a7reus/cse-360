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1695" cy="6858000"/>
  <p:notesSz cx="6858000" cy="9144000"/>
  <p:defaultTextStyle>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theme" Target="theme/theme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98F326-38F9-40E9-844A-EC66DA56CEC0}" type="datetimeFigureOut">
              <a:rPr lang="en-US"/>
              <a:t>10/17/16</a:t>
            </a:fld>
            <a:endParaRPr lang="en-US"/>
          </a:p>
        </p:txBody>
      </p:sp>
      <p:sp>
        <p:nvSpPr>
          <p:cNvPr id="4" name="Slide Image Placeholder 3"/>
          <p:cNvSpPr>
            <a:spLocks noGrp="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4DB33E-DF1A-4DDD-8617-8BEBD58B3BBA}"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Good morning. I am [name], and this is a short walk through five Packet Tracer labs from CSE 360. The labs build one idea at a time: a single LAN, then a router, then several routers, then mixed serial and Ethernet links, and finally VLANs. Replace the bracketed fields with your name, ID, section, both teachers' names and positions, course code and title, department, university, and date before presenting.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Every forwarding decision starts with one question: is the destination inside my subnet? If the IP address and mask match, the destination is local. The host uses ARP to find the MAC address, and the switch forwards the frame by its MAC table. If the destination is not local, the host sends the frame to its default gateway, which must be a router address in the same subnet. The router keeps the IP packet, rewrites the Layer 2 frame, and chooses the next hop from its routing table. Each router interface is a separate broadcast domain. Every lab changes the topology, but not this question.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Above the path, three services explain what the user sees. DNS turns a name into an IP address using an A record. HTTP carries the page over TCP port 80. ICMP is what ping and tracert use to test reachability and the path. Troubleshoot bottom-up: check the link, then ARP, then ping the IP, then ping the name, then open the page. If the IP works but the name fails, DNS is the problem. If the name works but the page fails, HTTP or the file is the problem.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These are the tools and devices in the labs. Packet Tracer gives us the topology, the device CLI, and simulation mode. PuTTY or SSH Secure Shell opens a remote console; the console cable is local access. The command prompt gives us ping, tracert, ipconfig, and arp. The routers are Cisco 1841s, the switches are 2960 or 2950, and the hosts are PC-PT or Server-PT. Links are copper, console, or serial. In the CLI, remember the ladder: user mode, privileged mode, global config, interface config. No shutdown is the same as Port Status On, and wr saves the running config. A green link is up; red is down.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Lab 2 starts with the simplest possible network. The client is 192.168.0.110/24, and the server is 192.168.0.105/24. The server runs both DNS and HTTP. Because both addresses are in the same subnet, the client does not need a gateway. It ARPs for the server, the switch forwards the frame, and the conversation stays local. Test the IP first, then the name. If the IP ping fails, the problem is the link, address, or mask, not DNS.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Now we open the browser on the client and go to www.kuddus.com. The client asks the DNS server for the A record, gets 192.168.0.105, and then sends the HTTP request to that address. The page loads, so both services work. In simulation mode you can see the DNS query happen before the HTTP exchange. If the name fails, check the DNS field, the DNS service, and the record. If the name works but the page does not, check the HTTP service and the file name.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Lab 2b adds one router between two campuses. JU is 192.168.1.0/24 and DU is 192.168.2.0/24. The router has one leg in each subnet, 192.168.1.4 and 192.168.2.4, and both interfaces must be no shutdown. Each PC uses the router leg in its own subnet as its default gateway. No routing protocol is needed because both networks are directly connected. A wrong gateway still lets the PC ping locally, but remote ping fails. That is the quickest way to spot the mistake.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There is no DNS forwarding in this lab, so each server must hold both A records: www.ju.edu points to 192.168.1.3, and www.du.edu points to 192.168.2.3. The screenshot shows both entries in the record table, and the JU server carries the same pair. The DNS service must be on. Test from the far campus, not just locally: ping the remote PC, then resolve the remote name. A missing record or a wrong gateway will show up there.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Lab 4 uses two routers and three networks: 192.168.1.0/24 on the left, 192.168.3.0/24 in the middle, and 192.168.2.0/24 on the right. Each router automatically knows its two connected networks, shown as C. The far LAN is not connected, so each router needs one static route, shown as S. R0 reaches 192.168.2.0/24 through 192.168.3.2, and R1 mirrors it. The next hop must be an address on a connected subnet. The reverse route is mandatory; without it, ping works one way only. The second version adds a hub and a middle PC, but the logic is the same: one route per remote network.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the routing table on R0. The C lines are directly connected networks and appear automatically. The S line is the static route we added: 192.168.2.0/24 through 192.168.3.2. The gateway of last resort is not set, which is fine here because every destination is known. Read the table from the specific routes down. Show ip route is the first command to run when traffic stops. From privileged mode, wr saves the running config to startup.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Lab 5 adds a third router and a fourth subnet. PC0 is 192.168.1.2 and PC1 is 192.168.4.2. The packet crosses R0, R1, and R2, but each router only chooses the next hop. R0 needs routes to 192.168.3.0 and 192.168.4.0 through 192.168.2.2. R1 needs 192.168.1.0 through 192.168.2.1 and 192.168.4.0 through 192.168.3.2. R2 needs 192.168.2.0 and 192.168.1.0 through 192.168.3.1. Tracert shows the path. One missing reverse route gives one-way traffic.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Here are the six lines. Each one names a destination network, its mask, and the adjacent next hop. No line contains the full path. R0 sends everything for the right side to R1; R1 sends left traffic to R0 and right traffic to R2; R2 sends everything for the left side to R1. Six lines for three routers, and every new LAN adds a line on every router that needs to reach it. That is the cost of static routing, and the reason dynamic routing exists.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Lab 6 is the complicated network. It has four LANs and two serial links, so six subnets, and three routers. The forwarding rule has not changed. What is new is the medium. The serial links in the screenshot are red because the interfaces are down. On each serial link, set the IP address, set the clock rate on the DCE side, and use no shutdown on both ends. Then each router still needs a static route for every remote network, with the next hop on an adjacent subnet.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lab asks why the first ping loses twenty-five percent. Look at the console: the first ping sends four packets and receives three. The timeout is the ARP lookup: the first echo goes out before the destination MAC is known, so it is dropped. The repeat ping receives all four, so the link and route are fine. The arp -a command shows the MAC address, and tracert shows the path. The lesson is to repeat the test before troubleshooting. To reach one hundred percent, bring every link up, complete the routes in both directions, and test again.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Lab 7 changes the segmentation. One switch is split into VLAN 10 and VLAN 20. VLAN 10 uses 192.168.5.0/24 and VLAN 20 uses 192.168.6.0/24. An access port belongs to one VLAN. The link to the router is a trunk, which carries both VLANs with 802.1Q tags. Same-VLAN traffic stays on the switch. Traffic between VLANs goes up the trunk to the router and back. The router needs one subinterface per VLAN, and that subinterface is the default gateway for the VLAN. The DHCP version adds one pool per VLAN with the matching default router.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On the switch, put the host ports in access mode and assign the VLAN, then make the uplink a trunk. On the router, create a subinterface for each VLAN, set encapsulation dot1Q with the VLAN number, and give it the gateway address. VLAN 20 follows the same pattern with 192.168.6.1. Show vlan brief confirms the port membership: VLAN 10 is on Fa0/2 and Fa0/3, and VLAN 20 is on Fa0/4 and Fa0/5. VLANs isolate broadcast domains, but they do not route by themselves. The router subinterfaces do the routing.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Everything reduces to one model. Same subnet: ARP and the switch. Different subnet: the gateway and the routing table. More hops: a next-hop static route on every router. Different VLAN: a trunk and a router subinterface. Static routes are explicit, symmetric, and manual. The first ping can lie because ARP warms up. Verify bottom-up: link, ARP, ping, name, page. Five labs, one model: find the boundary, then read the table. 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CF395B21-E8EE-4505-87E0-7B7F2C3DBBD0}"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C6D5D-A00E-4AA9-84F2-364CBECE0EEA}"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05E609E6-1126-4CCC-8F95-892B304C12E9}"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D0F9E-EF7E-4C26-8662-25A73F2263DD}"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10"/>
          </p:nvPr>
        </p:nvSpPr>
        <p:spPr/>
        <p:txBody>
          <a:bodyPr/>
          <a:lstStyle/>
          <a:p>
            <a:fld id="{B43082BF-5467-4883-8896-824F7369BC9A}"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C18080-B33E-4073-8615-72D8F5AE8F78}"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Date Placeholder 4"/>
          <p:cNvSpPr>
            <a:spLocks noGrp="1"/>
          </p:cNvSpPr>
          <p:nvPr>
            <p:ph type="dt" sz="half" idx="10"/>
          </p:nvPr>
        </p:nvSpPr>
        <p:spPr/>
        <p:txBody>
          <a:bodyPr/>
          <a:lstStyle/>
          <a:p>
            <a:fld id="{A3A66248-C912-41CA-84D9-08E1C7982093}"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CB9569-04AF-4288-8880-64CE52ABE7A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7" name="Date Placeholder 6"/>
          <p:cNvSpPr>
            <a:spLocks noGrp="1"/>
          </p:cNvSpPr>
          <p:nvPr>
            <p:ph type="dt" sz="half" idx="10"/>
          </p:nvPr>
        </p:nvSpPr>
        <p:spPr/>
        <p:txBody>
          <a:bodyPr/>
          <a:lstStyle/>
          <a:p>
            <a:fld id="{54EFB636-F4D9-4299-85F9-44D23E27C49C}" type="datetimeFigureOut">
              <a:rPr lang="en-US"/>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533E07-937E-4FED-8300-891295843456}"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5CAC346-E4DF-45C0-848B-E2AC5513E0D5}" type="datetimeFigureOut">
              <a:rPr lang="en-US"/>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28B55B-FA15-48BA-860D-0231187503D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20B29E-DC2A-4D67-887F-3BE2DC8489D6}" type="datetimeFigureOut">
              <a:rPr lang="en-US"/>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E0EBC0-ADA9-4FA7-889C-9287646BC79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10"/>
          </p:nvPr>
        </p:nvSpPr>
        <p:spPr/>
        <p:txBody>
          <a:bodyPr/>
          <a:lstStyle/>
          <a:p>
            <a:fld id="{AFC563BD-7186-488E-816C-8F41FA24179F}"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25AB8-FB3A-479C-8780-0B7E5F586C0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10"/>
          </p:nvPr>
        </p:nvSpPr>
        <p:spPr/>
        <p:txBody>
          <a:bodyPr/>
          <a:lstStyle/>
          <a:p>
            <a:fld id="{1EE02C48-70E8-4C8D-81F4-17FB598144B8}"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EFC29A-6C4F-4141-86E3-1A3E2D58E3A2}"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27602B83-4DFE-444B-8222-D5FF1EA6B44C}"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19C649-D3E0-46CB-87C1-67136E4226A6}"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A6FA40F9-1701-4EB4-806D-4ED861E7A003}"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BE78A-EB3E-401E-81B5-D7F53201DAF3}"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Theme">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ADADCF-DC63-475D-8D69-AEBF4EDF3BBC}" type="datetimeFigureOut">
              <a:rPr lang="en-US"/>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D6AB1-0FDA-49F1-8390-8828CE9E6676}"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0B5B4A"/>
          </a:solidFill>
          <a:ln>
            <a:noFill/>
          </a:ln>
          <a:effectLst/>
        </p:spPr>
        <p:txBody>
          <a:bodyPr rtlCol="0" anchor="ctr"/>
          <a:lstStyle/>
          <a:p>
            <a:pPr algn="ctr"/>
          </a:p>
        </p:txBody>
      </p:sp>
      <p:sp>
        <p:nvSpPr>
          <p:cNvPr id="3" name="TextBox 2"/>
          <p:cNvSpPr txBox="1"/>
          <p:nvPr/>
        </p:nvSpPr>
        <p:spPr>
          <a:xfrm>
            <a:off x="822960" y="566928"/>
            <a:ext cx="7315200" cy="228600"/>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CSE 360 · COMPUTER NETWORKS</a:t>
            </a:r>
          </a:p>
        </p:txBody>
      </p:sp>
      <p:sp>
        <p:nvSpPr>
          <p:cNvPr id="4" name="TextBox 3"/>
          <p:cNvSpPr txBox="1"/>
          <p:nvPr/>
        </p:nvSpPr>
        <p:spPr>
          <a:xfrm>
            <a:off x="804672" y="822960"/>
            <a:ext cx="10424160" cy="1325880"/>
          </a:xfrm>
          <a:prstGeom prst="rect">
            <a:avLst/>
          </a:prstGeom>
          <a:noFill/>
        </p:spPr>
        <p:txBody>
          <a:bodyPr wrap="square" lIns="0" tIns="0" rIns="0" bIns="0" anchor="t"/>
          <a:lstStyle/>
          <a:p>
            <a:pPr algn="l">
              <a:lnSpc>
                <a:spcPct val="95000"/>
              </a:lnSpc>
              <a:spcAft>
                <a:spcPts val="0"/>
              </a:spcAft>
            </a:pPr>
            <a:r>
              <a:rPr sz="4400" b="1">
                <a:solidFill>
                  <a:srgbClr val="141817"/>
                </a:solidFill>
                <a:latin typeface="Calibri"/>
              </a:rPr>
              <a:t>Building a Network,</a:t>
            </a:r>
            <a:br>
              <a:rPr sz="4400" b="1">
                <a:solidFill>
                  <a:srgbClr val="141817"/>
                </a:solidFill>
                <a:latin typeface="Calibri"/>
              </a:rPr>
            </a:br>
            <a:r>
              <a:rPr sz="4400" b="1">
                <a:solidFill>
                  <a:srgbClr val="141817"/>
                </a:solidFill>
                <a:latin typeface="Calibri"/>
              </a:rPr>
              <a:t>One Hop at a Time</a:t>
            </a:r>
          </a:p>
        </p:txBody>
      </p:sp>
      <p:sp>
        <p:nvSpPr>
          <p:cNvPr id="5" name="TextBox 4"/>
          <p:cNvSpPr txBox="1"/>
          <p:nvPr/>
        </p:nvSpPr>
        <p:spPr>
          <a:xfrm>
            <a:off x="822960" y="2249424"/>
            <a:ext cx="9601200" cy="36576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Five Packet Tracer labs: from one LAN to VLANs</a:t>
            </a:r>
          </a:p>
        </p:txBody>
      </p:sp>
      <p:sp>
        <p:nvSpPr>
          <p:cNvPr id="6" name="Rectangle 5"/>
          <p:cNvSpPr/>
          <p:nvPr/>
        </p:nvSpPr>
        <p:spPr>
          <a:xfrm>
            <a:off x="822960" y="2743200"/>
            <a:ext cx="10881360" cy="10972"/>
          </a:xfrm>
          <a:prstGeom prst="rect">
            <a:avLst/>
          </a:prstGeom>
          <a:solidFill>
            <a:srgbClr val="D9D5CA"/>
          </a:solidFill>
          <a:ln>
            <a:noFill/>
          </a:ln>
          <a:effectLst/>
        </p:spPr>
        <p:txBody>
          <a:bodyPr rtlCol="0" anchor="ctr"/>
          <a:lstStyle/>
          <a:p>
            <a:pPr algn="ctr"/>
          </a:p>
        </p:txBody>
      </p:sp>
      <p:sp>
        <p:nvSpPr>
          <p:cNvPr id="7" name="TextBox 6"/>
          <p:cNvSpPr txBox="1"/>
          <p:nvPr/>
        </p:nvSpPr>
        <p:spPr>
          <a:xfrm>
            <a:off x="822960" y="2962656"/>
            <a:ext cx="4389120" cy="219456"/>
          </a:xfrm>
          <a:prstGeom prst="rect">
            <a:avLst/>
          </a:prstGeom>
          <a:noFill/>
        </p:spPr>
        <p:txBody>
          <a:bodyPr wrap="square" lIns="0" tIns="0" rIns="0" bIns="0" anchor="t"/>
          <a:lstStyle/>
          <a:p>
            <a:pPr algn="l">
              <a:lnSpc>
                <a:spcPct val="100000"/>
              </a:lnSpc>
              <a:spcAft>
                <a:spcPts val="0"/>
              </a:spcAft>
            </a:pPr>
            <a:r>
              <a:rPr sz="1100" b="1">
                <a:solidFill>
                  <a:srgbClr val="0B5B4A"/>
                </a:solidFill>
                <a:latin typeface="Calibri"/>
              </a:rPr>
              <a:t>PRESENTED BY</a:t>
            </a:r>
          </a:p>
        </p:txBody>
      </p:sp>
      <p:sp>
        <p:nvSpPr>
          <p:cNvPr id="8" name="TextBox 7"/>
          <p:cNvSpPr txBox="1"/>
          <p:nvPr/>
        </p:nvSpPr>
        <p:spPr>
          <a:xfrm>
            <a:off x="822960" y="3236976"/>
            <a:ext cx="4937760" cy="365760"/>
          </a:xfrm>
          <a:prstGeom prst="rect">
            <a:avLst/>
          </a:prstGeom>
          <a:noFill/>
        </p:spPr>
        <p:txBody>
          <a:bodyPr wrap="square" lIns="0" tIns="0" rIns="0" bIns="0" anchor="t"/>
          <a:lstStyle/>
          <a:p>
            <a:pPr algn="l">
              <a:lnSpc>
                <a:spcPct val="100000"/>
              </a:lnSpc>
              <a:spcAft>
                <a:spcPts val="0"/>
              </a:spcAft>
            </a:pPr>
            <a:r>
              <a:rPr sz="2400" b="1">
                <a:solidFill>
                  <a:srgbClr val="141817"/>
                </a:solidFill>
                <a:latin typeface="Calibri"/>
              </a:rPr>
              <a:t>Anindya Saha</a:t>
            </a:r>
            <a:endParaRPr sz="2400" b="1">
              <a:solidFill>
                <a:srgbClr val="141817"/>
              </a:solidFill>
              <a:latin typeface="Calibri"/>
            </a:endParaRPr>
          </a:p>
        </p:txBody>
      </p:sp>
      <p:sp>
        <p:nvSpPr>
          <p:cNvPr id="9" name="TextBox 8"/>
          <p:cNvSpPr txBox="1"/>
          <p:nvPr/>
        </p:nvSpPr>
        <p:spPr>
          <a:xfrm>
            <a:off x="822960" y="3694176"/>
            <a:ext cx="4937760" cy="243840"/>
          </a:xfrm>
          <a:prstGeom prst="rect">
            <a:avLst/>
          </a:prstGeom>
          <a:noFill/>
        </p:spPr>
        <p:txBody>
          <a:bodyPr wrap="square" lIns="0" tIns="0" rIns="0" bIns="0" anchor="t"/>
          <a:lstStyle/>
          <a:p>
            <a:pPr algn="l">
              <a:lnSpc>
                <a:spcPct val="100000"/>
              </a:lnSpc>
              <a:spcAft>
                <a:spcPts val="0"/>
              </a:spcAft>
            </a:pPr>
            <a:r>
              <a:rPr sz="1600" b="0">
                <a:solidFill>
                  <a:srgbClr val="555E59"/>
                </a:solidFill>
                <a:latin typeface="Calibri"/>
              </a:rPr>
              <a:t>Roll: 354</a:t>
            </a:r>
            <a:endParaRPr sz="1600" b="0">
              <a:solidFill>
                <a:srgbClr val="555E59"/>
              </a:solidFill>
              <a:latin typeface="Calibri"/>
            </a:endParaRPr>
          </a:p>
        </p:txBody>
      </p:sp>
      <p:sp>
        <p:nvSpPr>
          <p:cNvPr id="10" name="Rectangle 9"/>
          <p:cNvSpPr/>
          <p:nvPr/>
        </p:nvSpPr>
        <p:spPr>
          <a:xfrm>
            <a:off x="6263640" y="2743200"/>
            <a:ext cx="10972" cy="1938528"/>
          </a:xfrm>
          <a:prstGeom prst="rect">
            <a:avLst/>
          </a:prstGeom>
          <a:solidFill>
            <a:srgbClr val="D9D5CA"/>
          </a:solidFill>
          <a:ln>
            <a:noFill/>
          </a:ln>
          <a:effectLst/>
        </p:spPr>
        <p:txBody>
          <a:bodyPr rtlCol="0" anchor="ctr"/>
          <a:lstStyle/>
          <a:p>
            <a:pPr algn="ctr"/>
          </a:p>
        </p:txBody>
      </p:sp>
      <p:sp>
        <p:nvSpPr>
          <p:cNvPr id="11" name="TextBox 10"/>
          <p:cNvSpPr txBox="1"/>
          <p:nvPr/>
        </p:nvSpPr>
        <p:spPr>
          <a:xfrm>
            <a:off x="6583680" y="2962656"/>
            <a:ext cx="5120640" cy="219456"/>
          </a:xfrm>
          <a:prstGeom prst="rect">
            <a:avLst/>
          </a:prstGeom>
          <a:noFill/>
        </p:spPr>
        <p:txBody>
          <a:bodyPr wrap="square" lIns="0" tIns="0" rIns="0" bIns="0" anchor="t"/>
          <a:lstStyle/>
          <a:p>
            <a:pPr algn="l">
              <a:lnSpc>
                <a:spcPct val="100000"/>
              </a:lnSpc>
              <a:spcAft>
                <a:spcPts val="0"/>
              </a:spcAft>
            </a:pPr>
            <a:r>
              <a:rPr sz="1100" b="1">
                <a:solidFill>
                  <a:srgbClr val="0B5B4A"/>
                </a:solidFill>
                <a:latin typeface="Calibri"/>
              </a:rPr>
              <a:t>PRESENTED TO</a:t>
            </a:r>
          </a:p>
        </p:txBody>
      </p:sp>
      <p:sp>
        <p:nvSpPr>
          <p:cNvPr id="12" name="TextBox 11"/>
          <p:cNvSpPr txBox="1"/>
          <p:nvPr/>
        </p:nvSpPr>
        <p:spPr>
          <a:xfrm>
            <a:off x="6583680" y="3236976"/>
            <a:ext cx="5120640" cy="304800"/>
          </a:xfrm>
          <a:prstGeom prst="rect">
            <a:avLst/>
          </a:prstGeom>
          <a:noFill/>
        </p:spPr>
        <p:txBody>
          <a:bodyPr wrap="square" lIns="0" tIns="0" rIns="0" bIns="0" anchor="t"/>
          <a:lstStyle/>
          <a:p>
            <a:pPr algn="l">
              <a:lnSpc>
                <a:spcPct val="100000"/>
              </a:lnSpc>
              <a:spcAft>
                <a:spcPts val="0"/>
              </a:spcAft>
            </a:pPr>
            <a:r>
              <a:rPr sz="2000" b="1">
                <a:solidFill>
                  <a:srgbClr val="141817"/>
                </a:solidFill>
                <a:latin typeface="Calibri"/>
              </a:rPr>
              <a:t>Abu Sayed Md. Mostafizur Rahman</a:t>
            </a:r>
            <a:endParaRPr sz="2000" b="1">
              <a:solidFill>
                <a:srgbClr val="141817"/>
              </a:solidFill>
              <a:latin typeface="Calibri"/>
            </a:endParaRPr>
          </a:p>
        </p:txBody>
      </p:sp>
      <p:sp>
        <p:nvSpPr>
          <p:cNvPr id="13" name="TextBox 12"/>
          <p:cNvSpPr txBox="1"/>
          <p:nvPr/>
        </p:nvSpPr>
        <p:spPr>
          <a:xfrm>
            <a:off x="6583680" y="3593592"/>
            <a:ext cx="5120640" cy="243840"/>
          </a:xfrm>
          <a:prstGeom prst="rect">
            <a:avLst/>
          </a:prstGeom>
          <a:noFill/>
        </p:spPr>
        <p:txBody>
          <a:bodyPr wrap="square" lIns="0" tIns="0" rIns="0" bIns="0" anchor="t"/>
          <a:lstStyle/>
          <a:p>
            <a:pPr algn="l">
              <a:lnSpc>
                <a:spcPct val="100000"/>
              </a:lnSpc>
              <a:spcAft>
                <a:spcPts val="0"/>
              </a:spcAft>
            </a:pPr>
            <a:r>
              <a:rPr sz="1600" b="0">
                <a:solidFill>
                  <a:srgbClr val="555E59"/>
                </a:solidFill>
                <a:latin typeface="Calibri"/>
              </a:rPr>
              <a:t>Professor</a:t>
            </a:r>
            <a:endParaRPr sz="1600" b="0">
              <a:solidFill>
                <a:srgbClr val="555E59"/>
              </a:solidFill>
              <a:latin typeface="Calibri"/>
            </a:endParaRPr>
          </a:p>
        </p:txBody>
      </p:sp>
      <p:sp>
        <p:nvSpPr>
          <p:cNvPr id="14" name="TextBox 13"/>
          <p:cNvSpPr txBox="1"/>
          <p:nvPr/>
        </p:nvSpPr>
        <p:spPr>
          <a:xfrm>
            <a:off x="6583680" y="3968496"/>
            <a:ext cx="5120640" cy="304800"/>
          </a:xfrm>
          <a:prstGeom prst="rect">
            <a:avLst/>
          </a:prstGeom>
          <a:noFill/>
        </p:spPr>
        <p:txBody>
          <a:bodyPr wrap="square" lIns="0" tIns="0" rIns="0" bIns="0" anchor="t"/>
          <a:lstStyle/>
          <a:p>
            <a:pPr algn="l">
              <a:lnSpc>
                <a:spcPct val="100000"/>
              </a:lnSpc>
              <a:spcAft>
                <a:spcPts val="0"/>
              </a:spcAft>
            </a:pPr>
            <a:r>
              <a:rPr sz="2000" b="1">
                <a:solidFill>
                  <a:srgbClr val="141817"/>
                </a:solidFill>
                <a:latin typeface="Calibri"/>
              </a:rPr>
              <a:t>Nishat Tasnim</a:t>
            </a:r>
            <a:endParaRPr sz="2000" b="1">
              <a:solidFill>
                <a:srgbClr val="141817"/>
              </a:solidFill>
              <a:latin typeface="Calibri"/>
            </a:endParaRPr>
          </a:p>
        </p:txBody>
      </p:sp>
      <p:sp>
        <p:nvSpPr>
          <p:cNvPr id="15" name="TextBox 14"/>
          <p:cNvSpPr txBox="1"/>
          <p:nvPr/>
        </p:nvSpPr>
        <p:spPr>
          <a:xfrm>
            <a:off x="6583680" y="4325112"/>
            <a:ext cx="5120640" cy="243840"/>
          </a:xfrm>
          <a:prstGeom prst="rect">
            <a:avLst/>
          </a:prstGeom>
          <a:noFill/>
        </p:spPr>
        <p:txBody>
          <a:bodyPr wrap="square" lIns="0" tIns="0" rIns="0" bIns="0" anchor="t"/>
          <a:lstStyle/>
          <a:p>
            <a:pPr algn="l">
              <a:lnSpc>
                <a:spcPct val="100000"/>
              </a:lnSpc>
              <a:spcAft>
                <a:spcPts val="0"/>
              </a:spcAft>
            </a:pPr>
            <a:r>
              <a:rPr sz="1600" b="0">
                <a:solidFill>
                  <a:srgbClr val="555E59"/>
                </a:solidFill>
                <a:latin typeface="Calibri"/>
              </a:rPr>
              <a:t>Lecturer</a:t>
            </a:r>
            <a:endParaRPr sz="1600" b="0">
              <a:solidFill>
                <a:srgbClr val="555E59"/>
              </a:solidFill>
              <a:latin typeface="Calibri"/>
            </a:endParaRPr>
          </a:p>
        </p:txBody>
      </p:sp>
      <p:sp>
        <p:nvSpPr>
          <p:cNvPr id="16" name="Rectangle 15"/>
          <p:cNvSpPr/>
          <p:nvPr/>
        </p:nvSpPr>
        <p:spPr>
          <a:xfrm>
            <a:off x="822960" y="4956048"/>
            <a:ext cx="10881360" cy="7315"/>
          </a:xfrm>
          <a:prstGeom prst="rect">
            <a:avLst/>
          </a:prstGeom>
          <a:solidFill>
            <a:srgbClr val="D9D5CA"/>
          </a:solidFill>
          <a:ln>
            <a:noFill/>
          </a:ln>
          <a:effectLst/>
        </p:spPr>
        <p:txBody>
          <a:bodyPr rtlCol="0" anchor="ctr"/>
          <a:lstStyle/>
          <a:p>
            <a:pPr algn="ctr"/>
          </a:p>
        </p:txBody>
      </p:sp>
      <p:sp>
        <p:nvSpPr>
          <p:cNvPr id="17" name="TextBox 16"/>
          <p:cNvSpPr txBox="1"/>
          <p:nvPr/>
        </p:nvSpPr>
        <p:spPr>
          <a:xfrm>
            <a:off x="822960" y="5084064"/>
            <a:ext cx="5486400" cy="167640"/>
          </a:xfrm>
          <a:prstGeom prst="rect">
            <a:avLst/>
          </a:prstGeom>
          <a:noFill/>
        </p:spPr>
        <p:txBody>
          <a:bodyPr wrap="square" lIns="0" tIns="0" rIns="0" bIns="0" anchor="t"/>
          <a:lstStyle/>
          <a:p>
            <a:pPr algn="l">
              <a:lnSpc>
                <a:spcPct val="100000"/>
              </a:lnSpc>
              <a:spcAft>
                <a:spcPts val="0"/>
              </a:spcAft>
            </a:pPr>
            <a:r>
              <a:rPr sz="1100" b="1">
                <a:solidFill>
                  <a:srgbClr val="0B5B4A"/>
                </a:solidFill>
                <a:latin typeface="Calibri"/>
              </a:rPr>
              <a:t>FOR</a:t>
            </a:r>
            <a:endParaRPr sz="1100" b="1">
              <a:solidFill>
                <a:srgbClr val="0B5B4A"/>
              </a:solidFill>
              <a:latin typeface="Calibri"/>
            </a:endParaRPr>
          </a:p>
        </p:txBody>
      </p:sp>
      <p:sp>
        <p:nvSpPr>
          <p:cNvPr id="18" name="TextBox 17"/>
          <p:cNvSpPr txBox="1"/>
          <p:nvPr/>
        </p:nvSpPr>
        <p:spPr>
          <a:xfrm>
            <a:off x="822960" y="5358384"/>
            <a:ext cx="10607040" cy="304800"/>
          </a:xfrm>
          <a:prstGeom prst="rect">
            <a:avLst/>
          </a:prstGeom>
          <a:noFill/>
        </p:spPr>
        <p:txBody>
          <a:bodyPr wrap="square" lIns="0" tIns="0" rIns="0" bIns="0" anchor="t"/>
          <a:lstStyle/>
          <a:p>
            <a:pPr algn="l">
              <a:lnSpc>
                <a:spcPct val="100000"/>
              </a:lnSpc>
              <a:spcAft>
                <a:spcPts val="0"/>
              </a:spcAft>
            </a:pPr>
            <a:r>
              <a:rPr sz="2000" b="1">
                <a:solidFill>
                  <a:srgbClr val="141817"/>
                </a:solidFill>
                <a:latin typeface="Calibri"/>
              </a:rPr>
              <a:t>CSE-360 — Computer Networks Laboratory</a:t>
            </a:r>
          </a:p>
        </p:txBody>
      </p:sp>
      <p:sp>
        <p:nvSpPr>
          <p:cNvPr id="19" name="TextBox 18"/>
          <p:cNvSpPr txBox="1"/>
          <p:nvPr/>
        </p:nvSpPr>
        <p:spPr>
          <a:xfrm>
            <a:off x="822960" y="5760720"/>
            <a:ext cx="10607040" cy="259080"/>
          </a:xfrm>
          <a:prstGeom prst="rect">
            <a:avLst/>
          </a:prstGeom>
          <a:noFill/>
        </p:spPr>
        <p:txBody>
          <a:bodyPr wrap="square" lIns="0" tIns="0" rIns="0" bIns="0" anchor="t"/>
          <a:lstStyle/>
          <a:p>
            <a:pPr algn="l">
              <a:lnSpc>
                <a:spcPct val="100000"/>
              </a:lnSpc>
              <a:spcAft>
                <a:spcPts val="0"/>
              </a:spcAft>
            </a:pPr>
            <a:r>
              <a:rPr sz="1700" b="0">
                <a:solidFill>
                  <a:srgbClr val="555E59"/>
                </a:solidFill>
                <a:latin typeface="Calibri"/>
              </a:rPr>
              <a:t>Computer Science and Engineering, Jahangirnagar University  ·  2026/11/??</a:t>
            </a:r>
          </a:p>
        </p:txBody>
      </p:sp>
      <p:sp>
        <p:nvSpPr>
          <p:cNvPr id="20" name="TextBox 19"/>
          <p:cNvSpPr txBox="1"/>
          <p:nvPr/>
        </p:nvSpPr>
        <p:spPr>
          <a:xfrm>
            <a:off x="7955279" y="6199632"/>
            <a:ext cx="3657600" cy="219456"/>
          </a:xfrm>
          <a:prstGeom prst="rect">
            <a:avLst/>
          </a:prstGeom>
          <a:noFill/>
        </p:spPr>
        <p:txBody>
          <a:bodyPr wrap="square" lIns="0" tIns="0" rIns="0" bIns="0" anchor="t"/>
          <a:lstStyle/>
          <a:p>
            <a:pPr algn="r">
              <a:lnSpc>
                <a:spcPct val="100000"/>
              </a:lnSpc>
              <a:spcAft>
                <a:spcPts val="0"/>
              </a:spcAft>
            </a:pPr>
            <a:r>
              <a:rPr sz="1500" b="1">
                <a:solidFill>
                  <a:srgbClr val="0B5B4A"/>
                </a:solidFill>
                <a:latin typeface="Calibri"/>
              </a:rPr>
              <a:t>5 labs · 1 model</a:t>
            </a:r>
          </a:p>
        </p:txBody>
      </p:sp>
      <p:sp>
        <p:nvSpPr>
          <p:cNvPr id="21" name="TextBox 20"/>
          <p:cNvSpPr txBox="1"/>
          <p:nvPr/>
        </p:nvSpPr>
        <p:spPr>
          <a:xfrm>
            <a:off x="822960" y="6528816"/>
            <a:ext cx="7315200" cy="182880"/>
          </a:xfrm>
          <a:prstGeom prst="rect">
            <a:avLst/>
          </a:prstGeom>
          <a:noFill/>
        </p:spPr>
        <p:txBody>
          <a:bodyPr wrap="square" lIns="0" tIns="0" rIns="0" bIns="0" anchor="t"/>
          <a:lstStyle/>
          <a:p>
            <a:pPr algn="l">
              <a:lnSpc>
                <a:spcPct val="100000"/>
              </a:lnSpc>
              <a:spcAft>
                <a:spcPts val="0"/>
              </a:spcAft>
            </a:pPr>
            <a:r>
              <a:rPr sz="1000" b="0">
                <a:solidFill>
                  <a:srgbClr val="8A948E"/>
                </a:solidFill>
                <a:latin typeface="Calibri"/>
              </a:rPr>
              <a:t>Sources: CSE 360 lab handouts 2, 4, 5, 6, 7 · Packet Tracer screenshots</a:t>
            </a:r>
          </a:p>
        </p:txBody>
      </p:sp>
      <p:sp>
        <p:nvSpPr>
          <p:cNvPr id="22" name="Rectangle 21"/>
          <p:cNvSpPr/>
          <p:nvPr/>
        </p:nvSpPr>
        <p:spPr>
          <a:xfrm>
            <a:off x="502920" y="6519672"/>
            <a:ext cx="11183112" cy="5486"/>
          </a:xfrm>
          <a:prstGeom prst="rect">
            <a:avLst/>
          </a:prstGeom>
          <a:solidFill>
            <a:srgbClr val="D9D5CA"/>
          </a:solidFill>
          <a:ln>
            <a:noFill/>
          </a:ln>
          <a:effectLst/>
        </p:spPr>
        <p:txBody>
          <a:bodyPr rtlCol="0" anchor="ctr"/>
          <a:lstStyle/>
          <a:p>
            <a:pPr algn="ctr"/>
          </a:p>
        </p:txBody>
      </p:sp>
      <p:sp>
        <p:nvSpPr>
          <p:cNvPr id="23" name="TextBox 22"/>
          <p:cNvSpPr txBox="1"/>
          <p:nvPr/>
        </p:nvSpPr>
        <p:spPr>
          <a:xfrm>
            <a:off x="10927080" y="6565392"/>
            <a:ext cx="758952" cy="182880"/>
          </a:xfrm>
          <a:prstGeom prst="rect">
            <a:avLst/>
          </a:prstGeom>
          <a:noFill/>
        </p:spPr>
        <p:txBody>
          <a:bodyPr wrap="square" lIns="0" tIns="0" rIns="0" bIns="0" anchor="t"/>
          <a:lstStyle/>
          <a:p>
            <a:pPr algn="r">
              <a:lnSpc>
                <a:spcPct val="100000"/>
              </a:lnSpc>
              <a:spcAft>
                <a:spcPts val="0"/>
              </a:spcAft>
            </a:pPr>
            <a:r>
              <a:rPr sz="900" b="0">
                <a:solidFill>
                  <a:srgbClr val="8A948E"/>
                </a:solidFill>
                <a:latin typeface="Calibri"/>
              </a:rPr>
              <a:t>01 / 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CONCEPTS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One question decides the path</a:t>
            </a:r>
          </a:p>
        </p:txBody>
      </p:sp>
      <p:sp>
        <p:nvSpPr>
          <p:cNvPr id="4" name="TextBox 3"/>
          <p:cNvSpPr txBox="1"/>
          <p:nvPr/>
        </p:nvSpPr>
        <p:spPr>
          <a:xfrm>
            <a:off x="502920" y="1353312"/>
            <a:ext cx="11155680" cy="347472"/>
          </a:xfrm>
          <a:prstGeom prst="rect">
            <a:avLst/>
          </a:prstGeom>
          <a:noFill/>
        </p:spPr>
        <p:txBody>
          <a:bodyPr wrap="square" lIns="0" tIns="0" rIns="0" bIns="0" anchor="t"/>
          <a:lstStyle/>
          <a:p>
            <a:pPr algn="l">
              <a:lnSpc>
                <a:spcPct val="100000"/>
              </a:lnSpc>
              <a:spcAft>
                <a:spcPts val="0"/>
              </a:spcAft>
            </a:pPr>
            <a:r>
              <a:rPr sz="2100" b="0">
                <a:solidFill>
                  <a:srgbClr val="555E59"/>
                </a:solidFill>
                <a:latin typeface="Calibri"/>
              </a:rPr>
              <a:t>Is the destination inside my subnet?</a:t>
            </a:r>
          </a:p>
        </p:txBody>
      </p:sp>
      <p:sp>
        <p:nvSpPr>
          <p:cNvPr id="5" name="Rectangle 4"/>
          <p:cNvSpPr/>
          <p:nvPr/>
        </p:nvSpPr>
        <p:spPr>
          <a:xfrm>
            <a:off x="6053328" y="1810512"/>
            <a:ext cx="7315" cy="3291840"/>
          </a:xfrm>
          <a:prstGeom prst="rect">
            <a:avLst/>
          </a:prstGeom>
          <a:solidFill>
            <a:srgbClr val="D9D5CA"/>
          </a:solidFill>
          <a:ln>
            <a:noFill/>
          </a:ln>
          <a:effectLst/>
        </p:spPr>
        <p:txBody>
          <a:bodyPr rtlCol="0" anchor="ctr"/>
          <a:lstStyle/>
          <a:p>
            <a:pPr algn="ctr"/>
          </a:p>
        </p:txBody>
      </p:sp>
      <p:sp>
        <p:nvSpPr>
          <p:cNvPr id="6" name="TextBox 5"/>
          <p:cNvSpPr txBox="1"/>
          <p:nvPr/>
        </p:nvSpPr>
        <p:spPr>
          <a:xfrm>
            <a:off x="502920" y="1783080"/>
            <a:ext cx="5120640" cy="219456"/>
          </a:xfrm>
          <a:prstGeom prst="rect">
            <a:avLst/>
          </a:prstGeom>
          <a:noFill/>
        </p:spPr>
        <p:txBody>
          <a:bodyPr wrap="square" lIns="0" tIns="0" rIns="0" bIns="0" anchor="t"/>
          <a:lstStyle/>
          <a:p>
            <a:pPr algn="l">
              <a:lnSpc>
                <a:spcPct val="100000"/>
              </a:lnSpc>
              <a:spcAft>
                <a:spcPts val="0"/>
              </a:spcAft>
            </a:pPr>
            <a:r>
              <a:rPr sz="1400" b="1">
                <a:solidFill>
                  <a:srgbClr val="0B5B4A"/>
                </a:solidFill>
                <a:latin typeface="Calibri"/>
              </a:rPr>
              <a:t>SAME SUBNET · LAYER 2</a:t>
            </a:r>
          </a:p>
        </p:txBody>
      </p:sp>
      <p:sp>
        <p:nvSpPr>
          <p:cNvPr id="7" name="TextBox 6"/>
          <p:cNvSpPr txBox="1"/>
          <p:nvPr/>
        </p:nvSpPr>
        <p:spPr>
          <a:xfrm>
            <a:off x="502920" y="2084831"/>
            <a:ext cx="5212080" cy="457200"/>
          </a:xfrm>
          <a:prstGeom prst="rect">
            <a:avLst/>
          </a:prstGeom>
          <a:noFill/>
        </p:spPr>
        <p:txBody>
          <a:bodyPr wrap="square" lIns="0" tIns="0" rIns="0" bIns="0" anchor="t"/>
          <a:lstStyle/>
          <a:p>
            <a:pPr algn="l">
              <a:lnSpc>
                <a:spcPct val="100000"/>
              </a:lnSpc>
              <a:spcAft>
                <a:spcPts val="0"/>
              </a:spcAft>
            </a:pPr>
            <a:r>
              <a:rPr sz="3000" b="1">
                <a:solidFill>
                  <a:srgbClr val="141817"/>
                </a:solidFill>
                <a:latin typeface="Calibri"/>
              </a:rPr>
              <a:t>ARP → switch</a:t>
            </a:r>
          </a:p>
        </p:txBody>
      </p:sp>
      <p:sp>
        <p:nvSpPr>
          <p:cNvPr id="8" name="TextBox 7"/>
          <p:cNvSpPr txBox="1"/>
          <p:nvPr/>
        </p:nvSpPr>
        <p:spPr>
          <a:xfrm>
            <a:off x="502920" y="2724912"/>
            <a:ext cx="5120640" cy="365760"/>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IP address and mask match.</a:t>
            </a:r>
          </a:p>
        </p:txBody>
      </p:sp>
      <p:sp>
        <p:nvSpPr>
          <p:cNvPr id="9" name="TextBox 8"/>
          <p:cNvSpPr txBox="1"/>
          <p:nvPr/>
        </p:nvSpPr>
        <p:spPr>
          <a:xfrm>
            <a:off x="502920" y="3145536"/>
            <a:ext cx="5120640" cy="365760"/>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ARP finds the MAC address.</a:t>
            </a:r>
          </a:p>
        </p:txBody>
      </p:sp>
      <p:sp>
        <p:nvSpPr>
          <p:cNvPr id="10" name="TextBox 9"/>
          <p:cNvSpPr txBox="1"/>
          <p:nvPr/>
        </p:nvSpPr>
        <p:spPr>
          <a:xfrm>
            <a:off x="502920" y="3566160"/>
            <a:ext cx="5120640" cy="365760"/>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The switch forwards by port.</a:t>
            </a:r>
          </a:p>
        </p:txBody>
      </p:sp>
      <p:sp>
        <p:nvSpPr>
          <p:cNvPr id="11" name="TextBox 10"/>
          <p:cNvSpPr txBox="1"/>
          <p:nvPr/>
        </p:nvSpPr>
        <p:spPr>
          <a:xfrm>
            <a:off x="6355080" y="1783080"/>
            <a:ext cx="5212080" cy="219456"/>
          </a:xfrm>
          <a:prstGeom prst="rect">
            <a:avLst/>
          </a:prstGeom>
          <a:noFill/>
        </p:spPr>
        <p:txBody>
          <a:bodyPr wrap="square" lIns="0" tIns="0" rIns="0" bIns="0" anchor="t"/>
          <a:lstStyle/>
          <a:p>
            <a:pPr algn="l">
              <a:lnSpc>
                <a:spcPct val="100000"/>
              </a:lnSpc>
              <a:spcAft>
                <a:spcPts val="0"/>
              </a:spcAft>
            </a:pPr>
            <a:r>
              <a:rPr sz="1400" b="1">
                <a:solidFill>
                  <a:srgbClr val="0B5B4A"/>
                </a:solidFill>
                <a:latin typeface="Calibri"/>
              </a:rPr>
              <a:t>DIFFERENT SUBNET · LAYER 3</a:t>
            </a:r>
          </a:p>
        </p:txBody>
      </p:sp>
      <p:sp>
        <p:nvSpPr>
          <p:cNvPr id="12" name="TextBox 11"/>
          <p:cNvSpPr txBox="1"/>
          <p:nvPr/>
        </p:nvSpPr>
        <p:spPr>
          <a:xfrm>
            <a:off x="6355080" y="2084831"/>
            <a:ext cx="5303520" cy="457200"/>
          </a:xfrm>
          <a:prstGeom prst="rect">
            <a:avLst/>
          </a:prstGeom>
          <a:noFill/>
        </p:spPr>
        <p:txBody>
          <a:bodyPr wrap="square" lIns="0" tIns="0" rIns="0" bIns="0" anchor="t"/>
          <a:lstStyle/>
          <a:p>
            <a:pPr algn="l">
              <a:lnSpc>
                <a:spcPct val="100000"/>
              </a:lnSpc>
              <a:spcAft>
                <a:spcPts val="0"/>
              </a:spcAft>
            </a:pPr>
            <a:r>
              <a:rPr sz="3000" b="1">
                <a:solidFill>
                  <a:srgbClr val="141817"/>
                </a:solidFill>
                <a:latin typeface="Calibri"/>
              </a:rPr>
              <a:t>Gateway → router</a:t>
            </a:r>
          </a:p>
        </p:txBody>
      </p:sp>
      <p:sp>
        <p:nvSpPr>
          <p:cNvPr id="13" name="TextBox 12"/>
          <p:cNvSpPr txBox="1"/>
          <p:nvPr/>
        </p:nvSpPr>
        <p:spPr>
          <a:xfrm>
            <a:off x="6355080" y="2724912"/>
            <a:ext cx="5212080" cy="365760"/>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Send to the default gateway.</a:t>
            </a:r>
          </a:p>
        </p:txBody>
      </p:sp>
      <p:sp>
        <p:nvSpPr>
          <p:cNvPr id="14" name="TextBox 13"/>
          <p:cNvSpPr txBox="1"/>
          <p:nvPr/>
        </p:nvSpPr>
        <p:spPr>
          <a:xfrm>
            <a:off x="6355080" y="3145536"/>
            <a:ext cx="5212080" cy="365760"/>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The router keeps the packet.</a:t>
            </a:r>
          </a:p>
        </p:txBody>
      </p:sp>
      <p:sp>
        <p:nvSpPr>
          <p:cNvPr id="15" name="TextBox 14"/>
          <p:cNvSpPr txBox="1"/>
          <p:nvPr/>
        </p:nvSpPr>
        <p:spPr>
          <a:xfrm>
            <a:off x="6355080" y="3566160"/>
            <a:ext cx="5212080" cy="365760"/>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It chooses the next hop.</a:t>
            </a:r>
          </a:p>
        </p:txBody>
      </p:sp>
      <p:sp>
        <p:nvSpPr>
          <p:cNvPr id="16" name="TextBox 15"/>
          <p:cNvSpPr txBox="1"/>
          <p:nvPr/>
        </p:nvSpPr>
        <p:spPr>
          <a:xfrm>
            <a:off x="502920" y="5120640"/>
            <a:ext cx="11155680" cy="365760"/>
          </a:xfrm>
          <a:prstGeom prst="rect">
            <a:avLst/>
          </a:prstGeom>
          <a:noFill/>
        </p:spPr>
        <p:txBody>
          <a:bodyPr wrap="square" lIns="0" tIns="0" rIns="0" bIns="0" anchor="t"/>
          <a:lstStyle/>
          <a:p>
            <a:pPr algn="l">
              <a:lnSpc>
                <a:spcPct val="100000"/>
              </a:lnSpc>
              <a:spcAft>
                <a:spcPts val="0"/>
              </a:spcAft>
            </a:pPr>
            <a:r>
              <a:rPr sz="2300" b="1">
                <a:solidFill>
                  <a:srgbClr val="0B5B4A"/>
                </a:solidFill>
                <a:latin typeface="Calibri"/>
              </a:rPr>
              <a:t>Every lab changes the topology, not the question.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CONCEPTS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The services on top</a:t>
            </a:r>
          </a:p>
        </p:txBody>
      </p:sp>
      <p:sp>
        <p:nvSpPr>
          <p:cNvPr id="4" name="TextBox 3"/>
          <p:cNvSpPr txBox="1"/>
          <p:nvPr/>
        </p:nvSpPr>
        <p:spPr>
          <a:xfrm>
            <a:off x="502920" y="1353312"/>
            <a:ext cx="11155680" cy="329184"/>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What the user sees, above the path.</a:t>
            </a:r>
          </a:p>
        </p:txBody>
      </p:sp>
      <p:sp>
        <p:nvSpPr>
          <p:cNvPr id="5" name="TextBox 4"/>
          <p:cNvSpPr txBox="1"/>
          <p:nvPr/>
        </p:nvSpPr>
        <p:spPr>
          <a:xfrm>
            <a:off x="502920" y="1828800"/>
            <a:ext cx="3383280" cy="548640"/>
          </a:xfrm>
          <a:prstGeom prst="rect">
            <a:avLst/>
          </a:prstGeom>
          <a:noFill/>
        </p:spPr>
        <p:txBody>
          <a:bodyPr wrap="square" lIns="0" tIns="0" rIns="0" bIns="0" anchor="t"/>
          <a:lstStyle/>
          <a:p>
            <a:pPr algn="l">
              <a:lnSpc>
                <a:spcPct val="100000"/>
              </a:lnSpc>
              <a:spcAft>
                <a:spcPts val="0"/>
              </a:spcAft>
            </a:pPr>
            <a:r>
              <a:rPr sz="3800" b="1">
                <a:solidFill>
                  <a:srgbClr val="0B5B4A"/>
                </a:solidFill>
                <a:latin typeface="Calibri"/>
              </a:rPr>
              <a:t>DNS</a:t>
            </a:r>
          </a:p>
        </p:txBody>
      </p:sp>
      <p:sp>
        <p:nvSpPr>
          <p:cNvPr id="6" name="TextBox 5"/>
          <p:cNvSpPr txBox="1"/>
          <p:nvPr/>
        </p:nvSpPr>
        <p:spPr>
          <a:xfrm>
            <a:off x="502920" y="2514600"/>
            <a:ext cx="3383280" cy="411480"/>
          </a:xfrm>
          <a:prstGeom prst="rect">
            <a:avLst/>
          </a:prstGeom>
          <a:noFill/>
        </p:spPr>
        <p:txBody>
          <a:bodyPr wrap="square" lIns="0" tIns="0" rIns="0" bIns="0" anchor="t"/>
          <a:lstStyle/>
          <a:p>
            <a:pPr algn="l">
              <a:lnSpc>
                <a:spcPct val="100000"/>
              </a:lnSpc>
              <a:spcAft>
                <a:spcPts val="0"/>
              </a:spcAft>
            </a:pPr>
            <a:r>
              <a:rPr sz="2600" b="1">
                <a:solidFill>
                  <a:srgbClr val="141817"/>
                </a:solidFill>
                <a:latin typeface="Calibri"/>
              </a:rPr>
              <a:t>name → IP</a:t>
            </a:r>
          </a:p>
        </p:txBody>
      </p:sp>
      <p:sp>
        <p:nvSpPr>
          <p:cNvPr id="7" name="TextBox 6"/>
          <p:cNvSpPr txBox="1"/>
          <p:nvPr/>
        </p:nvSpPr>
        <p:spPr>
          <a:xfrm>
            <a:off x="502920" y="3090672"/>
            <a:ext cx="3383280" cy="32004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A record on the server</a:t>
            </a:r>
          </a:p>
        </p:txBody>
      </p:sp>
      <p:sp>
        <p:nvSpPr>
          <p:cNvPr id="8" name="Rectangle 7"/>
          <p:cNvSpPr/>
          <p:nvPr/>
        </p:nvSpPr>
        <p:spPr>
          <a:xfrm>
            <a:off x="4114800" y="1874519"/>
            <a:ext cx="7315" cy="1600200"/>
          </a:xfrm>
          <a:prstGeom prst="rect">
            <a:avLst/>
          </a:prstGeom>
          <a:solidFill>
            <a:srgbClr val="D9D5CA"/>
          </a:solidFill>
          <a:ln>
            <a:noFill/>
          </a:ln>
          <a:effectLst/>
        </p:spPr>
        <p:txBody>
          <a:bodyPr rtlCol="0" anchor="ctr"/>
          <a:lstStyle/>
          <a:p>
            <a:pPr algn="ctr"/>
          </a:p>
        </p:txBody>
      </p:sp>
      <p:sp>
        <p:nvSpPr>
          <p:cNvPr id="9" name="TextBox 8"/>
          <p:cNvSpPr txBox="1"/>
          <p:nvPr/>
        </p:nvSpPr>
        <p:spPr>
          <a:xfrm>
            <a:off x="4251960" y="1828800"/>
            <a:ext cx="3383280" cy="548640"/>
          </a:xfrm>
          <a:prstGeom prst="rect">
            <a:avLst/>
          </a:prstGeom>
          <a:noFill/>
        </p:spPr>
        <p:txBody>
          <a:bodyPr wrap="square" lIns="0" tIns="0" rIns="0" bIns="0" anchor="t"/>
          <a:lstStyle/>
          <a:p>
            <a:pPr algn="l">
              <a:lnSpc>
                <a:spcPct val="100000"/>
              </a:lnSpc>
              <a:spcAft>
                <a:spcPts val="0"/>
              </a:spcAft>
            </a:pPr>
            <a:r>
              <a:rPr sz="3800" b="1">
                <a:solidFill>
                  <a:srgbClr val="0B5B4A"/>
                </a:solidFill>
                <a:latin typeface="Calibri"/>
              </a:rPr>
              <a:t>HTTP</a:t>
            </a:r>
          </a:p>
        </p:txBody>
      </p:sp>
      <p:sp>
        <p:nvSpPr>
          <p:cNvPr id="10" name="TextBox 9"/>
          <p:cNvSpPr txBox="1"/>
          <p:nvPr/>
        </p:nvSpPr>
        <p:spPr>
          <a:xfrm>
            <a:off x="4251960" y="2514600"/>
            <a:ext cx="3383280" cy="411480"/>
          </a:xfrm>
          <a:prstGeom prst="rect">
            <a:avLst/>
          </a:prstGeom>
          <a:noFill/>
        </p:spPr>
        <p:txBody>
          <a:bodyPr wrap="square" lIns="0" tIns="0" rIns="0" bIns="0" anchor="t"/>
          <a:lstStyle/>
          <a:p>
            <a:pPr algn="l">
              <a:lnSpc>
                <a:spcPct val="100000"/>
              </a:lnSpc>
              <a:spcAft>
                <a:spcPts val="0"/>
              </a:spcAft>
            </a:pPr>
            <a:r>
              <a:rPr sz="2600" b="1">
                <a:solidFill>
                  <a:srgbClr val="141817"/>
                </a:solidFill>
                <a:latin typeface="Calibri"/>
              </a:rPr>
              <a:t>page transfer</a:t>
            </a:r>
          </a:p>
        </p:txBody>
      </p:sp>
      <p:sp>
        <p:nvSpPr>
          <p:cNvPr id="11" name="TextBox 10"/>
          <p:cNvSpPr txBox="1"/>
          <p:nvPr/>
        </p:nvSpPr>
        <p:spPr>
          <a:xfrm>
            <a:off x="4251960" y="3090672"/>
            <a:ext cx="3383280" cy="32004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TCP port 80</a:t>
            </a:r>
          </a:p>
        </p:txBody>
      </p:sp>
      <p:sp>
        <p:nvSpPr>
          <p:cNvPr id="12" name="Rectangle 11"/>
          <p:cNvSpPr/>
          <p:nvPr/>
        </p:nvSpPr>
        <p:spPr>
          <a:xfrm>
            <a:off x="7863840" y="1874519"/>
            <a:ext cx="7315" cy="1600200"/>
          </a:xfrm>
          <a:prstGeom prst="rect">
            <a:avLst/>
          </a:prstGeom>
          <a:solidFill>
            <a:srgbClr val="D9D5CA"/>
          </a:solidFill>
          <a:ln>
            <a:noFill/>
          </a:ln>
          <a:effectLst/>
        </p:spPr>
        <p:txBody>
          <a:bodyPr rtlCol="0" anchor="ctr"/>
          <a:lstStyle/>
          <a:p>
            <a:pPr algn="ctr"/>
          </a:p>
        </p:txBody>
      </p:sp>
      <p:sp>
        <p:nvSpPr>
          <p:cNvPr id="13" name="TextBox 12"/>
          <p:cNvSpPr txBox="1"/>
          <p:nvPr/>
        </p:nvSpPr>
        <p:spPr>
          <a:xfrm>
            <a:off x="8001000" y="1828800"/>
            <a:ext cx="3383280" cy="548640"/>
          </a:xfrm>
          <a:prstGeom prst="rect">
            <a:avLst/>
          </a:prstGeom>
          <a:noFill/>
        </p:spPr>
        <p:txBody>
          <a:bodyPr wrap="square" lIns="0" tIns="0" rIns="0" bIns="0" anchor="t"/>
          <a:lstStyle/>
          <a:p>
            <a:pPr algn="l">
              <a:lnSpc>
                <a:spcPct val="100000"/>
              </a:lnSpc>
              <a:spcAft>
                <a:spcPts val="0"/>
              </a:spcAft>
            </a:pPr>
            <a:r>
              <a:rPr sz="3800" b="1">
                <a:solidFill>
                  <a:srgbClr val="0B5B4A"/>
                </a:solidFill>
                <a:latin typeface="Calibri"/>
              </a:rPr>
              <a:t>ICMP</a:t>
            </a:r>
          </a:p>
        </p:txBody>
      </p:sp>
      <p:sp>
        <p:nvSpPr>
          <p:cNvPr id="14" name="TextBox 13"/>
          <p:cNvSpPr txBox="1"/>
          <p:nvPr/>
        </p:nvSpPr>
        <p:spPr>
          <a:xfrm>
            <a:off x="8001000" y="2514600"/>
            <a:ext cx="3383280" cy="411480"/>
          </a:xfrm>
          <a:prstGeom prst="rect">
            <a:avLst/>
          </a:prstGeom>
          <a:noFill/>
        </p:spPr>
        <p:txBody>
          <a:bodyPr wrap="square" lIns="0" tIns="0" rIns="0" bIns="0" anchor="t"/>
          <a:lstStyle/>
          <a:p>
            <a:pPr algn="l">
              <a:lnSpc>
                <a:spcPct val="100000"/>
              </a:lnSpc>
              <a:spcAft>
                <a:spcPts val="0"/>
              </a:spcAft>
            </a:pPr>
            <a:r>
              <a:rPr sz="2600" b="1">
                <a:solidFill>
                  <a:srgbClr val="141817"/>
                </a:solidFill>
                <a:latin typeface="Calibri"/>
              </a:rPr>
              <a:t>ping / tracert</a:t>
            </a:r>
          </a:p>
        </p:txBody>
      </p:sp>
      <p:sp>
        <p:nvSpPr>
          <p:cNvPr id="15" name="TextBox 14"/>
          <p:cNvSpPr txBox="1"/>
          <p:nvPr/>
        </p:nvSpPr>
        <p:spPr>
          <a:xfrm>
            <a:off x="8001000" y="3090672"/>
            <a:ext cx="3383280" cy="32004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reachability</a:t>
            </a:r>
          </a:p>
        </p:txBody>
      </p:sp>
      <p:sp>
        <p:nvSpPr>
          <p:cNvPr id="16" name="TextBox 15"/>
          <p:cNvSpPr txBox="1"/>
          <p:nvPr/>
        </p:nvSpPr>
        <p:spPr>
          <a:xfrm>
            <a:off x="502920" y="4434840"/>
            <a:ext cx="11155680" cy="365760"/>
          </a:xfrm>
          <a:prstGeom prst="rect">
            <a:avLst/>
          </a:prstGeom>
          <a:noFill/>
        </p:spPr>
        <p:txBody>
          <a:bodyPr wrap="square" lIns="0" tIns="0" rIns="0" bIns="0" anchor="t"/>
          <a:lstStyle/>
          <a:p>
            <a:pPr algn="l">
              <a:lnSpc>
                <a:spcPct val="100000"/>
              </a:lnSpc>
              <a:spcAft>
                <a:spcPts val="0"/>
              </a:spcAft>
            </a:pPr>
            <a:r>
              <a:rPr sz="2200" b="1">
                <a:solidFill>
                  <a:srgbClr val="0B5B4A"/>
                </a:solidFill>
                <a:latin typeface="Calibri"/>
              </a:rPr>
              <a:t>Test bottom-up: link → ARP → ping → name → page.</a:t>
            </a:r>
          </a:p>
        </p:txBody>
      </p:sp>
      <p:sp>
        <p:nvSpPr>
          <p:cNvPr id="17" name="TextBox 16"/>
          <p:cNvSpPr txBox="1"/>
          <p:nvPr/>
        </p:nvSpPr>
        <p:spPr>
          <a:xfrm>
            <a:off x="502920" y="4983480"/>
            <a:ext cx="11155680" cy="329184"/>
          </a:xfrm>
          <a:prstGeom prst="rect">
            <a:avLst/>
          </a:prstGeom>
          <a:noFill/>
        </p:spPr>
        <p:txBody>
          <a:bodyPr wrap="square" lIns="0" tIns="0" rIns="0" bIns="0" anchor="t"/>
          <a:lstStyle/>
          <a:p>
            <a:pPr algn="l">
              <a:lnSpc>
                <a:spcPct val="100000"/>
              </a:lnSpc>
              <a:spcAft>
                <a:spcPts val="0"/>
              </a:spcAft>
            </a:pPr>
            <a:r>
              <a:rPr sz="1900" b="0">
                <a:solidFill>
                  <a:srgbClr val="555E59"/>
                </a:solidFill>
                <a:latin typeface="Calibri"/>
              </a:rPr>
              <a:t>IP works but the name fails: DNS is the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TOOLS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The lab bench</a:t>
            </a:r>
          </a:p>
        </p:txBody>
      </p:sp>
      <p:sp>
        <p:nvSpPr>
          <p:cNvPr id="4" name="TextBox 3"/>
          <p:cNvSpPr txBox="1"/>
          <p:nvPr/>
        </p:nvSpPr>
        <p:spPr>
          <a:xfrm>
            <a:off x="502920" y="1371600"/>
            <a:ext cx="5212080" cy="219456"/>
          </a:xfrm>
          <a:prstGeom prst="rect">
            <a:avLst/>
          </a:prstGeom>
          <a:noFill/>
        </p:spPr>
        <p:txBody>
          <a:bodyPr wrap="square" lIns="0" tIns="0" rIns="0" bIns="0" anchor="t"/>
          <a:lstStyle/>
          <a:p>
            <a:pPr algn="l">
              <a:lnSpc>
                <a:spcPct val="100000"/>
              </a:lnSpc>
              <a:spcAft>
                <a:spcPts val="0"/>
              </a:spcAft>
            </a:pPr>
            <a:r>
              <a:rPr sz="1400" b="1">
                <a:solidFill>
                  <a:srgbClr val="0B5B4A"/>
                </a:solidFill>
                <a:latin typeface="Calibri"/>
              </a:rPr>
              <a:t>SOFTWARE</a:t>
            </a:r>
          </a:p>
        </p:txBody>
      </p:sp>
      <p:sp>
        <p:nvSpPr>
          <p:cNvPr id="5" name="TextBox 4"/>
          <p:cNvSpPr txBox="1"/>
          <p:nvPr/>
        </p:nvSpPr>
        <p:spPr>
          <a:xfrm>
            <a:off x="502920" y="1783080"/>
            <a:ext cx="5394960" cy="45720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Packet Tracer — topology, CLI, simulation</a:t>
            </a:r>
          </a:p>
        </p:txBody>
      </p:sp>
      <p:sp>
        <p:nvSpPr>
          <p:cNvPr id="6" name="TextBox 5"/>
          <p:cNvSpPr txBox="1"/>
          <p:nvPr/>
        </p:nvSpPr>
        <p:spPr>
          <a:xfrm>
            <a:off x="502920" y="2350008"/>
            <a:ext cx="5394960" cy="45720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PuTTY / SSH — remote console</a:t>
            </a:r>
          </a:p>
        </p:txBody>
      </p:sp>
      <p:sp>
        <p:nvSpPr>
          <p:cNvPr id="7" name="TextBox 6"/>
          <p:cNvSpPr txBox="1"/>
          <p:nvPr/>
        </p:nvSpPr>
        <p:spPr>
          <a:xfrm>
            <a:off x="502920" y="2916936"/>
            <a:ext cx="5394960" cy="45720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Command prompt — ping, tracert, ipconfig, arp</a:t>
            </a:r>
          </a:p>
        </p:txBody>
      </p:sp>
      <p:sp>
        <p:nvSpPr>
          <p:cNvPr id="8" name="TextBox 7"/>
          <p:cNvSpPr txBox="1"/>
          <p:nvPr/>
        </p:nvSpPr>
        <p:spPr>
          <a:xfrm>
            <a:off x="6355080" y="1371600"/>
            <a:ext cx="5212080" cy="219456"/>
          </a:xfrm>
          <a:prstGeom prst="rect">
            <a:avLst/>
          </a:prstGeom>
          <a:noFill/>
        </p:spPr>
        <p:txBody>
          <a:bodyPr wrap="square" lIns="0" tIns="0" rIns="0" bIns="0" anchor="t"/>
          <a:lstStyle/>
          <a:p>
            <a:pPr algn="l">
              <a:lnSpc>
                <a:spcPct val="100000"/>
              </a:lnSpc>
              <a:spcAft>
                <a:spcPts val="0"/>
              </a:spcAft>
            </a:pPr>
            <a:r>
              <a:rPr sz="1400" b="1">
                <a:solidFill>
                  <a:srgbClr val="0B5B4A"/>
                </a:solidFill>
                <a:latin typeface="Calibri"/>
              </a:rPr>
              <a:t>HARDWARE</a:t>
            </a:r>
          </a:p>
        </p:txBody>
      </p:sp>
      <p:sp>
        <p:nvSpPr>
          <p:cNvPr id="9" name="TextBox 8"/>
          <p:cNvSpPr txBox="1"/>
          <p:nvPr/>
        </p:nvSpPr>
        <p:spPr>
          <a:xfrm>
            <a:off x="6355080" y="1783080"/>
            <a:ext cx="5394960" cy="45720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1841 routers · 2960 / 2950 switches</a:t>
            </a:r>
          </a:p>
        </p:txBody>
      </p:sp>
      <p:sp>
        <p:nvSpPr>
          <p:cNvPr id="10" name="TextBox 9"/>
          <p:cNvSpPr txBox="1"/>
          <p:nvPr/>
        </p:nvSpPr>
        <p:spPr>
          <a:xfrm>
            <a:off x="6355080" y="2350008"/>
            <a:ext cx="5394960" cy="45720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PC-PT and Server-PT hosts</a:t>
            </a:r>
          </a:p>
        </p:txBody>
      </p:sp>
      <p:sp>
        <p:nvSpPr>
          <p:cNvPr id="11" name="TextBox 10"/>
          <p:cNvSpPr txBox="1"/>
          <p:nvPr/>
        </p:nvSpPr>
        <p:spPr>
          <a:xfrm>
            <a:off x="6355080" y="2916936"/>
            <a:ext cx="5394960" cy="45720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Copper · console · serial links</a:t>
            </a:r>
          </a:p>
        </p:txBody>
      </p:sp>
      <p:sp>
        <p:nvSpPr>
          <p:cNvPr id="12" name="TextBox 11"/>
          <p:cNvSpPr txBox="1"/>
          <p:nvPr/>
        </p:nvSpPr>
        <p:spPr>
          <a:xfrm>
            <a:off x="6355080" y="3483863"/>
            <a:ext cx="5394960" cy="45720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Green = up · red = down</a:t>
            </a:r>
          </a:p>
        </p:txBody>
      </p:sp>
      <p:sp>
        <p:nvSpPr>
          <p:cNvPr id="13" name="Rectangle 12"/>
          <p:cNvSpPr/>
          <p:nvPr/>
        </p:nvSpPr>
        <p:spPr>
          <a:xfrm>
            <a:off x="502920" y="4645152"/>
            <a:ext cx="11183112" cy="7315"/>
          </a:xfrm>
          <a:prstGeom prst="rect">
            <a:avLst/>
          </a:prstGeom>
          <a:solidFill>
            <a:srgbClr val="D9D5CA"/>
          </a:solidFill>
          <a:ln>
            <a:noFill/>
          </a:ln>
          <a:effectLst/>
        </p:spPr>
        <p:txBody>
          <a:bodyPr rtlCol="0" anchor="ctr"/>
          <a:lstStyle/>
          <a:p>
            <a:pPr algn="ctr"/>
          </a:p>
        </p:txBody>
      </p:sp>
      <p:sp>
        <p:nvSpPr>
          <p:cNvPr id="14" name="TextBox 13"/>
          <p:cNvSpPr txBox="1"/>
          <p:nvPr/>
        </p:nvSpPr>
        <p:spPr>
          <a:xfrm>
            <a:off x="502920" y="4828032"/>
            <a:ext cx="11155680" cy="329184"/>
          </a:xfrm>
          <a:prstGeom prst="rect">
            <a:avLst/>
          </a:prstGeom>
          <a:noFill/>
        </p:spPr>
        <p:txBody>
          <a:bodyPr wrap="square" lIns="0" tIns="0" rIns="0" bIns="0" anchor="t"/>
          <a:lstStyle/>
          <a:p>
            <a:pPr algn="l">
              <a:lnSpc>
                <a:spcPct val="100000"/>
              </a:lnSpc>
              <a:spcAft>
                <a:spcPts val="0"/>
              </a:spcAft>
            </a:pPr>
            <a:r>
              <a:rPr sz="1800" b="0">
                <a:solidFill>
                  <a:srgbClr val="141817"/>
                </a:solidFill>
                <a:latin typeface="Calibri"/>
              </a:rPr>
              <a:t>CLI: &gt; user → # privileged → (config) → (config-if) · </a:t>
            </a:r>
            <a:r>
              <a:rPr sz="1750" b="0">
                <a:solidFill>
                  <a:srgbClr val="0B4F42"/>
                </a:solidFill>
                <a:latin typeface="Consolas"/>
              </a:rPr>
              <a:t>no shutdown</a:t>
            </a:r>
            <a:r>
              <a:rPr sz="1800" b="0">
                <a:solidFill>
                  <a:srgbClr val="141817"/>
                </a:solidFill>
                <a:latin typeface="Calibri"/>
              </a:rPr>
              <a:t> brings a port up.</a:t>
            </a:r>
          </a:p>
        </p:txBody>
      </p:sp>
      <p:sp>
        <p:nvSpPr>
          <p:cNvPr id="15" name="TextBox 14"/>
          <p:cNvSpPr txBox="1"/>
          <p:nvPr/>
        </p:nvSpPr>
        <p:spPr>
          <a:xfrm>
            <a:off x="502920" y="5376672"/>
            <a:ext cx="11155680" cy="292608"/>
          </a:xfrm>
          <a:prstGeom prst="rect">
            <a:avLst/>
          </a:prstGeom>
          <a:noFill/>
        </p:spPr>
        <p:txBody>
          <a:bodyPr wrap="square" lIns="0" tIns="0" rIns="0" bIns="0" anchor="t"/>
          <a:lstStyle/>
          <a:p>
            <a:pPr algn="l">
              <a:lnSpc>
                <a:spcPct val="100000"/>
              </a:lnSpc>
              <a:spcAft>
                <a:spcPts val="0"/>
              </a:spcAft>
            </a:pPr>
            <a:r>
              <a:rPr sz="1750" b="0">
                <a:solidFill>
                  <a:srgbClr val="0B4F42"/>
                </a:solidFill>
                <a:latin typeface="Consolas"/>
              </a:rPr>
              <a:t>wr</a:t>
            </a:r>
            <a:r>
              <a:rPr sz="1800" b="0">
                <a:solidFill>
                  <a:srgbClr val="555E59"/>
                </a:solidFill>
                <a:latin typeface="Calibri"/>
              </a:rPr>
              <a:t> saves the running config. Console is local; Telnet and SSH are remote.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2 · CLIENT–SERVER</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One cable, one subnet</a:t>
            </a:r>
          </a:p>
        </p:txBody>
      </p:sp>
      <p:pic>
        <p:nvPicPr>
          <p:cNvPr id="4" name="Picture 3" descr="2-1.1.png"/>
          <p:cNvPicPr>
            <a:picLocks noChangeAspect="1"/>
          </p:cNvPicPr>
          <p:nvPr/>
        </p:nvPicPr>
        <p:blipFill rotWithShape="1">
          <a:blip r:embed="rId3"/>
          <a:srcRect l="8607" t="20243" r="8451" b="25101"/>
          <a:stretch>
            <a:fillRect/>
          </a:stretch>
        </p:blipFill>
        <p:spPr>
          <a:xfrm>
            <a:off x="685800" y="1554480"/>
            <a:ext cx="10789920" cy="2748375"/>
          </a:xfrm>
          <a:prstGeom prst="rect">
            <a:avLst/>
          </a:prstGeom>
        </p:spPr>
      </p:pic>
      <p:sp>
        <p:nvSpPr>
          <p:cNvPr id="5" name="Rectangle 4"/>
          <p:cNvSpPr/>
          <p:nvPr/>
        </p:nvSpPr>
        <p:spPr>
          <a:xfrm>
            <a:off x="685800" y="1554480"/>
            <a:ext cx="10789920" cy="2748375"/>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502920" y="4572000"/>
            <a:ext cx="11155680" cy="365760"/>
          </a:xfrm>
          <a:prstGeom prst="rect">
            <a:avLst/>
          </a:prstGeom>
          <a:noFill/>
        </p:spPr>
        <p:txBody>
          <a:bodyPr wrap="square" lIns="0" tIns="0" rIns="0" bIns="0" anchor="t"/>
          <a:lstStyle/>
          <a:p>
            <a:pPr algn="l">
              <a:lnSpc>
                <a:spcPct val="100000"/>
              </a:lnSpc>
              <a:spcAft>
                <a:spcPts val="0"/>
              </a:spcAft>
            </a:pPr>
            <a:r>
              <a:rPr sz="2300" b="1">
                <a:solidFill>
                  <a:srgbClr val="141817"/>
                </a:solidFill>
                <a:latin typeface="Calibri"/>
              </a:rPr>
              <a:t>Client 192.168.0.110/24  ·  Server 192.168.0.105/24</a:t>
            </a:r>
          </a:p>
        </p:txBody>
      </p:sp>
      <p:sp>
        <p:nvSpPr>
          <p:cNvPr id="7" name="TextBox 6"/>
          <p:cNvSpPr txBox="1"/>
          <p:nvPr/>
        </p:nvSpPr>
        <p:spPr>
          <a:xfrm>
            <a:off x="502920" y="5074920"/>
            <a:ext cx="11155680" cy="329184"/>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DNS and HTTP both run on the server.</a:t>
            </a:r>
          </a:p>
        </p:txBody>
      </p:sp>
      <p:sp>
        <p:nvSpPr>
          <p:cNvPr id="8" name="TextBox 7"/>
          <p:cNvSpPr txBox="1"/>
          <p:nvPr/>
        </p:nvSpPr>
        <p:spPr>
          <a:xfrm>
            <a:off x="502920" y="5559552"/>
            <a:ext cx="11155680" cy="347472"/>
          </a:xfrm>
          <a:prstGeom prst="rect">
            <a:avLst/>
          </a:prstGeom>
          <a:noFill/>
        </p:spPr>
        <p:txBody>
          <a:bodyPr wrap="square" lIns="0" tIns="0" rIns="0" bIns="0" anchor="t"/>
          <a:lstStyle/>
          <a:p>
            <a:pPr algn="l">
              <a:lnSpc>
                <a:spcPct val="100000"/>
              </a:lnSpc>
              <a:spcAft>
                <a:spcPts val="0"/>
              </a:spcAft>
            </a:pPr>
            <a:r>
              <a:rPr sz="2100" b="1">
                <a:solidFill>
                  <a:srgbClr val="0B5B4A"/>
                </a:solidFill>
                <a:latin typeface="Calibri"/>
              </a:rPr>
              <a:t>Same subnet → ARP, then the switch. No gateway.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2 · DNS + HTTP</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The name becomes a page</a:t>
            </a:r>
          </a:p>
        </p:txBody>
      </p:sp>
      <p:pic>
        <p:nvPicPr>
          <p:cNvPr id="4" name="Picture 3" descr="2-1.7.png"/>
          <p:cNvPicPr>
            <a:picLocks noChangeAspect="1"/>
          </p:cNvPicPr>
          <p:nvPr/>
        </p:nvPicPr>
        <p:blipFill rotWithShape="1">
          <a:blip r:embed="rId3"/>
          <a:srcRect l="0" t="12141" r="0" b="0"/>
          <a:stretch>
            <a:fillRect/>
          </a:stretch>
        </p:blipFill>
        <p:spPr>
          <a:xfrm>
            <a:off x="685800" y="1554480"/>
            <a:ext cx="10789920" cy="3197443"/>
          </a:xfrm>
          <a:prstGeom prst="rect">
            <a:avLst/>
          </a:prstGeom>
        </p:spPr>
      </p:pic>
      <p:sp>
        <p:nvSpPr>
          <p:cNvPr id="5" name="Rectangle 4"/>
          <p:cNvSpPr/>
          <p:nvPr/>
        </p:nvSpPr>
        <p:spPr>
          <a:xfrm>
            <a:off x="685800" y="1554480"/>
            <a:ext cx="10789920" cy="3197443"/>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685800" y="5138928"/>
            <a:ext cx="10789920" cy="411480"/>
          </a:xfrm>
          <a:prstGeom prst="rect">
            <a:avLst/>
          </a:prstGeom>
          <a:noFill/>
        </p:spPr>
        <p:txBody>
          <a:bodyPr wrap="square" lIns="0" tIns="0" rIns="0" bIns="0" anchor="t"/>
          <a:lstStyle/>
          <a:p>
            <a:pPr algn="l">
              <a:lnSpc>
                <a:spcPct val="100000"/>
              </a:lnSpc>
              <a:spcAft>
                <a:spcPts val="0"/>
              </a:spcAft>
            </a:pPr>
            <a:r>
              <a:rPr sz="2400" b="1">
                <a:solidFill>
                  <a:srgbClr val="141817"/>
                </a:solidFill>
                <a:latin typeface="Calibri"/>
              </a:rPr>
              <a:t>www.kuddus.com → 192.168.0.105</a:t>
            </a:r>
          </a:p>
        </p:txBody>
      </p:sp>
      <p:sp>
        <p:nvSpPr>
          <p:cNvPr id="7" name="TextBox 6"/>
          <p:cNvSpPr txBox="1"/>
          <p:nvPr/>
        </p:nvSpPr>
        <p:spPr>
          <a:xfrm>
            <a:off x="685800" y="5650992"/>
            <a:ext cx="10789920" cy="329184"/>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DNS resolves the name; HTTP returns the page.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2 · FIRST ROUTER</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A router is the exit from a subnet</a:t>
            </a:r>
          </a:p>
        </p:txBody>
      </p:sp>
      <p:pic>
        <p:nvPicPr>
          <p:cNvPr id="4" name="Picture 3" descr="2-2.1.png"/>
          <p:cNvPicPr>
            <a:picLocks noChangeAspect="1"/>
          </p:cNvPicPr>
          <p:nvPr/>
        </p:nvPicPr>
        <p:blipFill rotWithShape="1">
          <a:blip r:embed="rId3"/>
          <a:srcRect l="0" t="2976" r="0" b="298"/>
          <a:stretch>
            <a:fillRect/>
          </a:stretch>
        </p:blipFill>
        <p:spPr>
          <a:xfrm>
            <a:off x="777240" y="1207008"/>
            <a:ext cx="10241280" cy="4587754"/>
          </a:xfrm>
          <a:prstGeom prst="rect">
            <a:avLst/>
          </a:prstGeom>
        </p:spPr>
      </p:pic>
      <p:sp>
        <p:nvSpPr>
          <p:cNvPr id="5" name="Rectangle 4"/>
          <p:cNvSpPr/>
          <p:nvPr/>
        </p:nvSpPr>
        <p:spPr>
          <a:xfrm>
            <a:off x="777240" y="1207008"/>
            <a:ext cx="10241280" cy="4587754"/>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502920" y="5989320"/>
            <a:ext cx="11155680" cy="347472"/>
          </a:xfrm>
          <a:prstGeom prst="rect">
            <a:avLst/>
          </a:prstGeom>
          <a:noFill/>
        </p:spPr>
        <p:txBody>
          <a:bodyPr wrap="square" lIns="0" tIns="0" rIns="0" bIns="0" anchor="t"/>
          <a:lstStyle/>
          <a:p>
            <a:pPr algn="l">
              <a:lnSpc>
                <a:spcPct val="100000"/>
              </a:lnSpc>
              <a:spcAft>
                <a:spcPts val="0"/>
              </a:spcAft>
            </a:pPr>
            <a:r>
              <a:rPr sz="2000" b="1">
                <a:solidFill>
                  <a:srgbClr val="0B5B4A"/>
                </a:solidFill>
                <a:latin typeface="Calibri"/>
              </a:rPr>
              <a:t>Each PC's gateway is the router leg in its own subnet.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2 · DNS RECORDS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Both servers need both records</a:t>
            </a:r>
          </a:p>
        </p:txBody>
      </p:sp>
      <p:pic>
        <p:nvPicPr>
          <p:cNvPr id="4" name="Picture 3" descr="2-2.10.png"/>
          <p:cNvPicPr>
            <a:picLocks noChangeAspect="1"/>
          </p:cNvPicPr>
          <p:nvPr/>
        </p:nvPicPr>
        <p:blipFill rotWithShape="1">
          <a:blip r:embed="rId3"/>
          <a:srcRect l="16542" t="21875" r="0" b="17708"/>
          <a:stretch>
            <a:fillRect/>
          </a:stretch>
        </p:blipFill>
        <p:spPr>
          <a:xfrm>
            <a:off x="502920" y="1298448"/>
            <a:ext cx="11155680" cy="3309613"/>
          </a:xfrm>
          <a:prstGeom prst="rect">
            <a:avLst/>
          </a:prstGeom>
        </p:spPr>
      </p:pic>
      <p:sp>
        <p:nvSpPr>
          <p:cNvPr id="5" name="Rectangle 4"/>
          <p:cNvSpPr/>
          <p:nvPr/>
        </p:nvSpPr>
        <p:spPr>
          <a:xfrm>
            <a:off x="502920" y="1298448"/>
            <a:ext cx="11155680" cy="3309613"/>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502920" y="4754880"/>
            <a:ext cx="11155680" cy="411480"/>
          </a:xfrm>
          <a:prstGeom prst="rect">
            <a:avLst/>
          </a:prstGeom>
          <a:noFill/>
        </p:spPr>
        <p:txBody>
          <a:bodyPr wrap="square" lIns="0" tIns="0" rIns="0" bIns="0" anchor="t"/>
          <a:lstStyle/>
          <a:p>
            <a:pPr algn="l">
              <a:lnSpc>
                <a:spcPct val="100000"/>
              </a:lnSpc>
              <a:spcAft>
                <a:spcPts val="0"/>
              </a:spcAft>
            </a:pPr>
            <a:r>
              <a:rPr sz="2700" b="1">
                <a:solidFill>
                  <a:srgbClr val="141817"/>
                </a:solidFill>
                <a:latin typeface="Calibri"/>
              </a:rPr>
              <a:t>www.ju.edu → 192.168.1.3</a:t>
            </a:r>
          </a:p>
        </p:txBody>
      </p:sp>
      <p:sp>
        <p:nvSpPr>
          <p:cNvPr id="7" name="TextBox 6"/>
          <p:cNvSpPr txBox="1"/>
          <p:nvPr/>
        </p:nvSpPr>
        <p:spPr>
          <a:xfrm>
            <a:off x="502920" y="5321808"/>
            <a:ext cx="11155680" cy="411480"/>
          </a:xfrm>
          <a:prstGeom prst="rect">
            <a:avLst/>
          </a:prstGeom>
          <a:noFill/>
        </p:spPr>
        <p:txBody>
          <a:bodyPr wrap="square" lIns="0" tIns="0" rIns="0" bIns="0" anchor="t"/>
          <a:lstStyle/>
          <a:p>
            <a:pPr algn="l">
              <a:lnSpc>
                <a:spcPct val="100000"/>
              </a:lnSpc>
              <a:spcAft>
                <a:spcPts val="0"/>
              </a:spcAft>
            </a:pPr>
            <a:r>
              <a:rPr sz="2700" b="1">
                <a:solidFill>
                  <a:srgbClr val="141817"/>
                </a:solidFill>
                <a:latin typeface="Calibri"/>
              </a:rPr>
              <a:t>www.du.edu → 192.168.2.3</a:t>
            </a:r>
          </a:p>
        </p:txBody>
      </p:sp>
      <p:sp>
        <p:nvSpPr>
          <p:cNvPr id="8" name="TextBox 7"/>
          <p:cNvSpPr txBox="1"/>
          <p:nvPr/>
        </p:nvSpPr>
        <p:spPr>
          <a:xfrm>
            <a:off x="502920" y="5961888"/>
            <a:ext cx="11155680" cy="329184"/>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Each server holds both A records. No forwarding.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4 · TWO ROUTERS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Two routers create a transit network</a:t>
            </a:r>
          </a:p>
        </p:txBody>
      </p:sp>
      <p:pic>
        <p:nvPicPr>
          <p:cNvPr id="4" name="Picture 3" descr="4-1.1.png"/>
          <p:cNvPicPr>
            <a:picLocks noChangeAspect="1"/>
          </p:cNvPicPr>
          <p:nvPr/>
        </p:nvPicPr>
        <p:blipFill rotWithShape="1">
          <a:blip r:embed="rId3"/>
          <a:srcRect l="0" t="5484" r="0" b="1280"/>
          <a:stretch>
            <a:fillRect/>
          </a:stretch>
        </p:blipFill>
        <p:spPr>
          <a:xfrm>
            <a:off x="685800" y="1280160"/>
            <a:ext cx="10241280" cy="4102947"/>
          </a:xfrm>
          <a:prstGeom prst="rect">
            <a:avLst/>
          </a:prstGeom>
        </p:spPr>
      </p:pic>
      <p:sp>
        <p:nvSpPr>
          <p:cNvPr id="5" name="Rectangle 4"/>
          <p:cNvSpPr/>
          <p:nvPr/>
        </p:nvSpPr>
        <p:spPr>
          <a:xfrm>
            <a:off x="685800" y="1280160"/>
            <a:ext cx="10241280" cy="4102947"/>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685800" y="5468112"/>
            <a:ext cx="10789920" cy="329184"/>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Each router knows its two connected networks (C).</a:t>
            </a:r>
          </a:p>
        </p:txBody>
      </p:sp>
      <p:sp>
        <p:nvSpPr>
          <p:cNvPr id="7" name="TextBox 6"/>
          <p:cNvSpPr txBox="1"/>
          <p:nvPr/>
        </p:nvSpPr>
        <p:spPr>
          <a:xfrm>
            <a:off x="685800" y="5925312"/>
            <a:ext cx="10789920" cy="329184"/>
          </a:xfrm>
          <a:prstGeom prst="rect">
            <a:avLst/>
          </a:prstGeom>
          <a:noFill/>
        </p:spPr>
        <p:txBody>
          <a:bodyPr wrap="square" lIns="0" tIns="0" rIns="0" bIns="0" anchor="t"/>
          <a:lstStyle/>
          <a:p>
            <a:pPr algn="l">
              <a:lnSpc>
                <a:spcPct val="100000"/>
              </a:lnSpc>
              <a:spcAft>
                <a:spcPts val="0"/>
              </a:spcAft>
            </a:pPr>
            <a:r>
              <a:rPr sz="2100" b="1">
                <a:solidFill>
                  <a:srgbClr val="0B5B4A"/>
                </a:solidFill>
                <a:latin typeface="Calibri"/>
              </a:rPr>
              <a:t>The far LAN needs a static route (S) in both directions.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4 · ROUTING TABLE</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Reading the routing table</a:t>
            </a:r>
          </a:p>
        </p:txBody>
      </p:sp>
      <p:pic>
        <p:nvPicPr>
          <p:cNvPr id="4" name="Picture 3" descr="4-1.4.png"/>
          <p:cNvPicPr>
            <a:picLocks noChangeAspect="1"/>
          </p:cNvPicPr>
          <p:nvPr/>
        </p:nvPicPr>
        <p:blipFill rotWithShape="1">
          <a:blip r:embed="rId3"/>
          <a:srcRect l="563" t="58065" r="0" b="2151"/>
          <a:stretch>
            <a:fillRect/>
          </a:stretch>
        </p:blipFill>
        <p:spPr>
          <a:xfrm>
            <a:off x="502920" y="1463040"/>
            <a:ext cx="11155680" cy="1557585"/>
          </a:xfrm>
          <a:prstGeom prst="rect">
            <a:avLst/>
          </a:prstGeom>
        </p:spPr>
      </p:pic>
      <p:sp>
        <p:nvSpPr>
          <p:cNvPr id="5" name="TextBox 4"/>
          <p:cNvSpPr txBox="1"/>
          <p:nvPr/>
        </p:nvSpPr>
        <p:spPr>
          <a:xfrm>
            <a:off x="502920" y="3566160"/>
            <a:ext cx="11155680" cy="457200"/>
          </a:xfrm>
          <a:prstGeom prst="rect">
            <a:avLst/>
          </a:prstGeom>
          <a:noFill/>
        </p:spPr>
        <p:txBody>
          <a:bodyPr wrap="square" lIns="0" tIns="0" rIns="0" bIns="0" anchor="t"/>
          <a:lstStyle/>
          <a:p>
            <a:pPr algn="l">
              <a:lnSpc>
                <a:spcPct val="100000"/>
              </a:lnSpc>
              <a:spcAft>
                <a:spcPts val="0"/>
              </a:spcAft>
            </a:pPr>
            <a:r>
              <a:rPr sz="2600" b="1">
                <a:solidFill>
                  <a:srgbClr val="141817"/>
                </a:solidFill>
                <a:latin typeface="Calibri"/>
              </a:rPr>
              <a:t>C — directly connected</a:t>
            </a:r>
          </a:p>
        </p:txBody>
      </p:sp>
      <p:sp>
        <p:nvSpPr>
          <p:cNvPr id="6" name="TextBox 5"/>
          <p:cNvSpPr txBox="1"/>
          <p:nvPr/>
        </p:nvSpPr>
        <p:spPr>
          <a:xfrm>
            <a:off x="502920" y="4114800"/>
            <a:ext cx="11155680" cy="411480"/>
          </a:xfrm>
          <a:prstGeom prst="rect">
            <a:avLst/>
          </a:prstGeom>
          <a:noFill/>
        </p:spPr>
        <p:txBody>
          <a:bodyPr wrap="square" lIns="0" tIns="0" rIns="0" bIns="0" anchor="t"/>
          <a:lstStyle/>
          <a:p>
            <a:pPr algn="l">
              <a:lnSpc>
                <a:spcPct val="100000"/>
              </a:lnSpc>
              <a:spcAft>
                <a:spcPts val="0"/>
              </a:spcAft>
            </a:pPr>
            <a:r>
              <a:rPr sz="2400" b="0">
                <a:solidFill>
                  <a:srgbClr val="141817"/>
                </a:solidFill>
                <a:latin typeface="Calibri"/>
              </a:rPr>
              <a:t>S — static route via 192.168.3.2</a:t>
            </a:r>
          </a:p>
        </p:txBody>
      </p:sp>
      <p:sp>
        <p:nvSpPr>
          <p:cNvPr id="7" name="TextBox 6"/>
          <p:cNvSpPr txBox="1"/>
          <p:nvPr/>
        </p:nvSpPr>
        <p:spPr>
          <a:xfrm>
            <a:off x="502920" y="4681728"/>
            <a:ext cx="11155680" cy="329184"/>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The next hop must be a connected address.</a:t>
            </a:r>
          </a:p>
        </p:txBody>
      </p:sp>
      <p:sp>
        <p:nvSpPr>
          <p:cNvPr id="8" name="TextBox 7"/>
          <p:cNvSpPr txBox="1"/>
          <p:nvPr/>
        </p:nvSpPr>
        <p:spPr>
          <a:xfrm>
            <a:off x="502920" y="5175504"/>
            <a:ext cx="11155680" cy="329184"/>
          </a:xfrm>
          <a:prstGeom prst="rect">
            <a:avLst/>
          </a:prstGeom>
          <a:noFill/>
        </p:spPr>
        <p:txBody>
          <a:bodyPr wrap="square" lIns="0" tIns="0" rIns="0" bIns="0" anchor="t"/>
          <a:lstStyle/>
          <a:p>
            <a:pPr algn="l">
              <a:lnSpc>
                <a:spcPct val="100000"/>
              </a:lnSpc>
              <a:spcAft>
                <a:spcPts val="0"/>
              </a:spcAft>
            </a:pPr>
            <a:r>
              <a:rPr sz="2100" b="1">
                <a:solidFill>
                  <a:srgbClr val="0B5B4A"/>
                </a:solidFill>
                <a:latin typeface="Calibri"/>
              </a:rPr>
              <a:t>The reverse route is mandatory.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5 · THREE ROUTERS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Three routers, one rule</a:t>
            </a:r>
          </a:p>
        </p:txBody>
      </p:sp>
      <p:pic>
        <p:nvPicPr>
          <p:cNvPr id="4" name="Picture 3" descr="5.1.png"/>
          <p:cNvPicPr>
            <a:picLocks noChangeAspect="1"/>
          </p:cNvPicPr>
          <p:nvPr/>
        </p:nvPicPr>
        <p:blipFill rotWithShape="1">
          <a:blip r:embed="rId3"/>
          <a:srcRect l="6970" t="4128" r="6263" b="0"/>
          <a:stretch>
            <a:fillRect/>
          </a:stretch>
        </p:blipFill>
        <p:spPr>
          <a:xfrm>
            <a:off x="502920" y="1170432"/>
            <a:ext cx="6309360" cy="5288404"/>
          </a:xfrm>
          <a:prstGeom prst="rect">
            <a:avLst/>
          </a:prstGeom>
        </p:spPr>
      </p:pic>
      <p:sp>
        <p:nvSpPr>
          <p:cNvPr id="5" name="Rectangle 4"/>
          <p:cNvSpPr/>
          <p:nvPr/>
        </p:nvSpPr>
        <p:spPr>
          <a:xfrm>
            <a:off x="502920" y="1170432"/>
            <a:ext cx="6309360" cy="5288404"/>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7178040" y="1280160"/>
            <a:ext cx="4526280" cy="640080"/>
          </a:xfrm>
          <a:prstGeom prst="rect">
            <a:avLst/>
          </a:prstGeom>
          <a:noFill/>
        </p:spPr>
        <p:txBody>
          <a:bodyPr wrap="square" lIns="0" tIns="0" rIns="0" bIns="0" anchor="t"/>
          <a:lstStyle/>
          <a:p>
            <a:pPr algn="l">
              <a:lnSpc>
                <a:spcPct val="100000"/>
              </a:lnSpc>
              <a:spcAft>
                <a:spcPts val="0"/>
              </a:spcAft>
            </a:pPr>
            <a:r>
              <a:rPr sz="2300" b="1">
                <a:solidFill>
                  <a:srgbClr val="0B5B4A"/>
                </a:solidFill>
                <a:latin typeface="Calibri"/>
              </a:rPr>
              <a:t>PC0 → R0 → R1 → R2 → PC1</a:t>
            </a:r>
          </a:p>
        </p:txBody>
      </p:sp>
      <p:sp>
        <p:nvSpPr>
          <p:cNvPr id="7" name="TextBox 6"/>
          <p:cNvSpPr txBox="1"/>
          <p:nvPr/>
        </p:nvSpPr>
        <p:spPr>
          <a:xfrm>
            <a:off x="7178040" y="2057400"/>
            <a:ext cx="4526280" cy="822960"/>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Each router points only to the next hop.</a:t>
            </a:r>
          </a:p>
        </p:txBody>
      </p:sp>
      <p:sp>
        <p:nvSpPr>
          <p:cNvPr id="8" name="TextBox 7"/>
          <p:cNvSpPr txBox="1"/>
          <p:nvPr/>
        </p:nvSpPr>
        <p:spPr>
          <a:xfrm>
            <a:off x="7178040" y="2999232"/>
            <a:ext cx="4526280" cy="365760"/>
          </a:xfrm>
          <a:prstGeom prst="rect">
            <a:avLst/>
          </a:prstGeom>
          <a:noFill/>
        </p:spPr>
        <p:txBody>
          <a:bodyPr wrap="square" lIns="0" tIns="0" rIns="0" bIns="0" anchor="t"/>
          <a:lstStyle/>
          <a:p>
            <a:pPr algn="l">
              <a:lnSpc>
                <a:spcPct val="100000"/>
              </a:lnSpc>
              <a:spcAft>
                <a:spcPts val="0"/>
              </a:spcAft>
            </a:pPr>
            <a:r>
              <a:rPr sz="2600" b="1">
                <a:solidFill>
                  <a:srgbClr val="141817"/>
                </a:solidFill>
                <a:latin typeface="Calibri"/>
              </a:rPr>
              <a:t>4 subnets</a:t>
            </a:r>
          </a:p>
        </p:txBody>
      </p:sp>
      <p:sp>
        <p:nvSpPr>
          <p:cNvPr id="9" name="TextBox 8"/>
          <p:cNvSpPr txBox="1"/>
          <p:nvPr/>
        </p:nvSpPr>
        <p:spPr>
          <a:xfrm>
            <a:off x="7178040" y="3456432"/>
            <a:ext cx="4526280" cy="365760"/>
          </a:xfrm>
          <a:prstGeom prst="rect">
            <a:avLst/>
          </a:prstGeom>
          <a:noFill/>
        </p:spPr>
        <p:txBody>
          <a:bodyPr wrap="square" lIns="0" tIns="0" rIns="0" bIns="0" anchor="t"/>
          <a:lstStyle/>
          <a:p>
            <a:pPr algn="l">
              <a:lnSpc>
                <a:spcPct val="100000"/>
              </a:lnSpc>
              <a:spcAft>
                <a:spcPts val="0"/>
              </a:spcAft>
            </a:pPr>
            <a:r>
              <a:rPr sz="2600" b="1">
                <a:solidFill>
                  <a:srgbClr val="141817"/>
                </a:solidFill>
                <a:latin typeface="Calibri"/>
              </a:rPr>
              <a:t>3 routers</a:t>
            </a:r>
          </a:p>
        </p:txBody>
      </p:sp>
      <p:sp>
        <p:nvSpPr>
          <p:cNvPr id="10" name="TextBox 9"/>
          <p:cNvSpPr txBox="1"/>
          <p:nvPr/>
        </p:nvSpPr>
        <p:spPr>
          <a:xfrm>
            <a:off x="7178040" y="3913632"/>
            <a:ext cx="4526280" cy="365760"/>
          </a:xfrm>
          <a:prstGeom prst="rect">
            <a:avLst/>
          </a:prstGeom>
          <a:noFill/>
        </p:spPr>
        <p:txBody>
          <a:bodyPr wrap="square" lIns="0" tIns="0" rIns="0" bIns="0" anchor="t"/>
          <a:lstStyle/>
          <a:p>
            <a:pPr algn="l">
              <a:lnSpc>
                <a:spcPct val="100000"/>
              </a:lnSpc>
              <a:spcAft>
                <a:spcPts val="0"/>
              </a:spcAft>
            </a:pPr>
            <a:r>
              <a:rPr sz="2600" b="1">
                <a:solidFill>
                  <a:srgbClr val="141817"/>
                </a:solidFill>
                <a:latin typeface="Calibri"/>
              </a:rPr>
              <a:t>6 static routes</a:t>
            </a:r>
          </a:p>
        </p:txBody>
      </p:sp>
      <p:sp>
        <p:nvSpPr>
          <p:cNvPr id="11" name="TextBox 10"/>
          <p:cNvSpPr txBox="1"/>
          <p:nvPr/>
        </p:nvSpPr>
        <p:spPr>
          <a:xfrm>
            <a:off x="7178040" y="4846320"/>
            <a:ext cx="4526280" cy="292608"/>
          </a:xfrm>
          <a:prstGeom prst="rect">
            <a:avLst/>
          </a:prstGeom>
          <a:noFill/>
        </p:spPr>
        <p:txBody>
          <a:bodyPr wrap="square" lIns="0" tIns="0" rIns="0" bIns="0" anchor="t"/>
          <a:lstStyle/>
          <a:p>
            <a:pPr algn="l">
              <a:lnSpc>
                <a:spcPct val="100000"/>
              </a:lnSpc>
              <a:spcAft>
                <a:spcPts val="0"/>
              </a:spcAft>
            </a:pPr>
            <a:r>
              <a:rPr sz="1900" b="0">
                <a:solidFill>
                  <a:srgbClr val="555E59"/>
                </a:solidFill>
                <a:latin typeface="Calibri"/>
              </a:rPr>
              <a:t>Tracert shows the path.</a:t>
            </a:r>
          </a:p>
        </p:txBody>
      </p:sp>
      <p:sp>
        <p:nvSpPr>
          <p:cNvPr id="12" name="TextBox 11"/>
          <p:cNvSpPr txBox="1"/>
          <p:nvPr/>
        </p:nvSpPr>
        <p:spPr>
          <a:xfrm>
            <a:off x="7178040" y="5349240"/>
            <a:ext cx="4526280" cy="640080"/>
          </a:xfrm>
          <a:prstGeom prst="rect">
            <a:avLst/>
          </a:prstGeom>
          <a:noFill/>
        </p:spPr>
        <p:txBody>
          <a:bodyPr wrap="square" lIns="0" tIns="0" rIns="0" bIns="0" anchor="t"/>
          <a:lstStyle/>
          <a:p>
            <a:pPr algn="l">
              <a:lnSpc>
                <a:spcPct val="100000"/>
              </a:lnSpc>
              <a:spcAft>
                <a:spcPts val="0"/>
              </a:spcAft>
            </a:pPr>
            <a:r>
              <a:rPr sz="1900" b="0">
                <a:solidFill>
                  <a:srgbClr val="555E59"/>
                </a:solidFill>
                <a:latin typeface="Calibri"/>
              </a:rPr>
              <a:t>One missing reverse route = one-way traffic.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5 · STATIC ROUTES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The command never contains the full path</a:t>
            </a:r>
          </a:p>
        </p:txBody>
      </p:sp>
      <p:sp>
        <p:nvSpPr>
          <p:cNvPr id="4" name="Rectangle 3"/>
          <p:cNvSpPr/>
          <p:nvPr/>
        </p:nvSpPr>
        <p:spPr>
          <a:xfrm>
            <a:off x="502920" y="1417320"/>
            <a:ext cx="11173968" cy="2313432"/>
          </a:xfrm>
          <a:prstGeom prst="rect">
            <a:avLst/>
          </a:prstGeom>
          <a:solidFill>
            <a:srgbClr val="101A17"/>
          </a:solidFill>
          <a:ln>
            <a:noFill/>
          </a:ln>
          <a:effectLst/>
        </p:spPr>
        <p:txBody>
          <a:bodyPr rtlCol="0" anchor="ctr"/>
          <a:lstStyle/>
          <a:p>
            <a:pPr algn="ctr"/>
          </a:p>
        </p:txBody>
      </p:sp>
      <p:sp>
        <p:nvSpPr>
          <p:cNvPr id="5" name="TextBox 4"/>
          <p:cNvSpPr txBox="1"/>
          <p:nvPr/>
        </p:nvSpPr>
        <p:spPr>
          <a:xfrm>
            <a:off x="758952" y="1636776"/>
            <a:ext cx="10661904" cy="2002536"/>
          </a:xfrm>
          <a:prstGeom prst="rect">
            <a:avLst/>
          </a:prstGeom>
          <a:noFill/>
        </p:spPr>
        <p:txBody>
          <a:bodyPr wrap="none" lIns="0" tIns="0" rIns="0" bIns="0" anchor="t"/>
          <a:lstStyle/>
          <a:p>
            <a:pPr>
              <a:lnSpc>
                <a:spcPct val="112000"/>
              </a:lnSpc>
              <a:spcAft>
                <a:spcPts val="150"/>
              </a:spcAft>
            </a:pPr>
            <a:r>
              <a:rPr sz="1800">
                <a:solidFill>
                  <a:srgbClr val="F3F7F5"/>
                </a:solidFill>
                <a:latin typeface="Consolas"/>
              </a:rPr>
              <a:t>R0(config)</a:t>
            </a:r>
            <a:r>
              <a:rPr sz="1800">
                <a:solidFill>
                  <a:srgbClr val="9AB6AC"/>
                </a:solidFill>
                <a:latin typeface="Consolas"/>
              </a:rPr>
              <a:t># ip route 192.168.3.0 255.255.255.0 192.168.2.2</a:t>
            </a:r>
          </a:p>
          <a:p>
            <a:pPr>
              <a:lnSpc>
                <a:spcPct val="112000"/>
              </a:lnSpc>
              <a:spcAft>
                <a:spcPts val="150"/>
              </a:spcAft>
            </a:pPr>
            <a:r>
              <a:rPr sz="1800">
                <a:solidFill>
                  <a:srgbClr val="F3F7F5"/>
                </a:solidFill>
                <a:latin typeface="Consolas"/>
              </a:rPr>
              <a:t>R0(config)</a:t>
            </a:r>
            <a:r>
              <a:rPr sz="1800">
                <a:solidFill>
                  <a:srgbClr val="9AB6AC"/>
                </a:solidFill>
                <a:latin typeface="Consolas"/>
              </a:rPr>
              <a:t># ip route 192.168.4.0 255.255.255.0 192.168.2.2</a:t>
            </a:r>
          </a:p>
          <a:p>
            <a:pPr>
              <a:lnSpc>
                <a:spcPct val="112000"/>
              </a:lnSpc>
              <a:spcAft>
                <a:spcPts val="150"/>
              </a:spcAft>
            </a:pPr>
            <a:r>
              <a:rPr sz="1800">
                <a:solidFill>
                  <a:srgbClr val="F3F7F5"/>
                </a:solidFill>
                <a:latin typeface="Consolas"/>
              </a:rPr>
              <a:t>R1(config)</a:t>
            </a:r>
            <a:r>
              <a:rPr sz="1800">
                <a:solidFill>
                  <a:srgbClr val="9AB6AC"/>
                </a:solidFill>
                <a:latin typeface="Consolas"/>
              </a:rPr>
              <a:t># ip route 192.168.1.0 255.255.255.0 192.168.2.1</a:t>
            </a:r>
          </a:p>
          <a:p>
            <a:pPr>
              <a:lnSpc>
                <a:spcPct val="112000"/>
              </a:lnSpc>
              <a:spcAft>
                <a:spcPts val="150"/>
              </a:spcAft>
            </a:pPr>
            <a:r>
              <a:rPr sz="1800">
                <a:solidFill>
                  <a:srgbClr val="F3F7F5"/>
                </a:solidFill>
                <a:latin typeface="Consolas"/>
              </a:rPr>
              <a:t>R1(config)</a:t>
            </a:r>
            <a:r>
              <a:rPr sz="1800">
                <a:solidFill>
                  <a:srgbClr val="9AB6AC"/>
                </a:solidFill>
                <a:latin typeface="Consolas"/>
              </a:rPr>
              <a:t># ip route 192.168.4.0 255.255.255.0 192.168.3.2</a:t>
            </a:r>
          </a:p>
          <a:p>
            <a:pPr>
              <a:lnSpc>
                <a:spcPct val="112000"/>
              </a:lnSpc>
              <a:spcAft>
                <a:spcPts val="150"/>
              </a:spcAft>
            </a:pPr>
            <a:r>
              <a:rPr sz="1800">
                <a:solidFill>
                  <a:srgbClr val="F3F7F5"/>
                </a:solidFill>
                <a:latin typeface="Consolas"/>
              </a:rPr>
              <a:t>R2(config)</a:t>
            </a:r>
            <a:r>
              <a:rPr sz="1800">
                <a:solidFill>
                  <a:srgbClr val="9AB6AC"/>
                </a:solidFill>
                <a:latin typeface="Consolas"/>
              </a:rPr>
              <a:t># ip route 192.168.2.0 255.255.255.0 192.168.3.1</a:t>
            </a:r>
          </a:p>
          <a:p>
            <a:pPr>
              <a:lnSpc>
                <a:spcPct val="112000"/>
              </a:lnSpc>
              <a:spcAft>
                <a:spcPts val="150"/>
              </a:spcAft>
            </a:pPr>
            <a:r>
              <a:rPr sz="1800">
                <a:solidFill>
                  <a:srgbClr val="F3F7F5"/>
                </a:solidFill>
                <a:latin typeface="Consolas"/>
              </a:rPr>
              <a:t>R2(config)</a:t>
            </a:r>
            <a:r>
              <a:rPr sz="1800">
                <a:solidFill>
                  <a:srgbClr val="9AB6AC"/>
                </a:solidFill>
                <a:latin typeface="Consolas"/>
              </a:rPr>
              <a:t># ip route 192.168.1.0 255.255.255.0 192.168.3.1</a:t>
            </a:r>
          </a:p>
        </p:txBody>
      </p:sp>
      <p:sp>
        <p:nvSpPr>
          <p:cNvPr id="6" name="TextBox 5"/>
          <p:cNvSpPr txBox="1"/>
          <p:nvPr/>
        </p:nvSpPr>
        <p:spPr>
          <a:xfrm>
            <a:off x="502920" y="3977639"/>
            <a:ext cx="11155680" cy="457200"/>
          </a:xfrm>
          <a:prstGeom prst="rect">
            <a:avLst/>
          </a:prstGeom>
          <a:noFill/>
        </p:spPr>
        <p:txBody>
          <a:bodyPr wrap="square" lIns="0" tIns="0" rIns="0" bIns="0" anchor="t"/>
          <a:lstStyle/>
          <a:p>
            <a:pPr algn="l">
              <a:lnSpc>
                <a:spcPct val="100000"/>
              </a:lnSpc>
              <a:spcAft>
                <a:spcPts val="0"/>
              </a:spcAft>
            </a:pPr>
            <a:r>
              <a:rPr sz="3000" b="1">
                <a:solidFill>
                  <a:srgbClr val="141817"/>
                </a:solidFill>
                <a:latin typeface="Calibri"/>
              </a:rPr>
              <a:t>6 lines for 3 routers.</a:t>
            </a:r>
          </a:p>
        </p:txBody>
      </p:sp>
      <p:sp>
        <p:nvSpPr>
          <p:cNvPr id="7" name="TextBox 6"/>
          <p:cNvSpPr txBox="1"/>
          <p:nvPr/>
        </p:nvSpPr>
        <p:spPr>
          <a:xfrm>
            <a:off x="502920" y="4544568"/>
            <a:ext cx="11155680" cy="347472"/>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Every new LAN adds a line on every router that needs it.</a:t>
            </a:r>
          </a:p>
        </p:txBody>
      </p:sp>
      <p:sp>
        <p:nvSpPr>
          <p:cNvPr id="8" name="TextBox 7"/>
          <p:cNvSpPr txBox="1"/>
          <p:nvPr/>
        </p:nvSpPr>
        <p:spPr>
          <a:xfrm>
            <a:off x="502920" y="5093208"/>
            <a:ext cx="11155680" cy="310896"/>
          </a:xfrm>
          <a:prstGeom prst="rect">
            <a:avLst/>
          </a:prstGeom>
          <a:noFill/>
        </p:spPr>
        <p:txBody>
          <a:bodyPr wrap="square" lIns="0" tIns="0" rIns="0" bIns="0" anchor="t"/>
          <a:lstStyle/>
          <a:p>
            <a:pPr algn="l">
              <a:lnSpc>
                <a:spcPct val="100000"/>
              </a:lnSpc>
              <a:spcAft>
                <a:spcPts val="0"/>
              </a:spcAft>
            </a:pPr>
            <a:r>
              <a:rPr sz="1900" b="0">
                <a:solidFill>
                  <a:srgbClr val="555E59"/>
                </a:solidFill>
                <a:latin typeface="Calibri"/>
              </a:rPr>
              <a:t>C = connected  ·  S = static  ·  </a:t>
            </a:r>
            <a:r>
              <a:rPr sz="1850" b="0">
                <a:solidFill>
                  <a:srgbClr val="0B4F42"/>
                </a:solidFill>
                <a:latin typeface="Consolas"/>
              </a:rPr>
              <a:t>do wr</a:t>
            </a:r>
            <a:r>
              <a:rPr sz="1900" b="0">
                <a:solidFill>
                  <a:srgbClr val="555E59"/>
                </a:solidFill>
                <a:latin typeface="Calibri"/>
              </a:rPr>
              <a:t> saves.</a:t>
            </a:r>
          </a:p>
        </p:txBody>
      </p:sp>
      <p:sp>
        <p:nvSpPr>
          <p:cNvPr id="9" name="TextBox 8"/>
          <p:cNvSpPr txBox="1"/>
          <p:nvPr/>
        </p:nvSpPr>
        <p:spPr>
          <a:xfrm>
            <a:off x="502920" y="5596128"/>
            <a:ext cx="11155680" cy="347472"/>
          </a:xfrm>
          <a:prstGeom prst="rect">
            <a:avLst/>
          </a:prstGeom>
          <a:noFill/>
        </p:spPr>
        <p:txBody>
          <a:bodyPr wrap="square" lIns="0" tIns="0" rIns="0" bIns="0" anchor="t"/>
          <a:lstStyle/>
          <a:p>
            <a:pPr algn="l">
              <a:lnSpc>
                <a:spcPct val="100000"/>
              </a:lnSpc>
              <a:spcAft>
                <a:spcPts val="0"/>
              </a:spcAft>
            </a:pPr>
            <a:r>
              <a:rPr sz="2000" b="1">
                <a:solidFill>
                  <a:srgbClr val="0B5B4A"/>
                </a:solidFill>
                <a:latin typeface="Calibri"/>
              </a:rPr>
              <a:t>Missing reverse route → one-way traffic.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6 · MIXED MEDIA</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More media, same forwarding logic</a:t>
            </a:r>
          </a:p>
        </p:txBody>
      </p:sp>
      <p:pic>
        <p:nvPicPr>
          <p:cNvPr id="4" name="Picture 3" descr="6.1.png"/>
          <p:cNvPicPr>
            <a:picLocks noChangeAspect="1"/>
          </p:cNvPicPr>
          <p:nvPr/>
        </p:nvPicPr>
        <p:blipFill rotWithShape="1">
          <a:blip r:embed="rId3"/>
          <a:stretch>
            <a:fillRect/>
          </a:stretch>
        </p:blipFill>
        <p:spPr>
          <a:xfrm>
            <a:off x="978408" y="1188720"/>
            <a:ext cx="10241280" cy="5219932"/>
          </a:xfrm>
          <a:prstGeom prst="rect">
            <a:avLst/>
          </a:prstGeom>
        </p:spPr>
      </p:pic>
      <p:sp>
        <p:nvSpPr>
          <p:cNvPr id="5" name="Rectangle 4"/>
          <p:cNvSpPr/>
          <p:nvPr/>
        </p:nvSpPr>
        <p:spPr>
          <a:xfrm>
            <a:off x="978408" y="1188720"/>
            <a:ext cx="10241280" cy="5219932"/>
          </a:xfrm>
          <a:prstGeom prst="rect">
            <a:avLst/>
          </a:prstGeom>
          <a:noFill/>
          <a:ln w="9525">
            <a:solidFill>
              <a:srgbClr val="D9D5CA"/>
            </a:solidFill>
          </a:ln>
          <a:effectLst/>
        </p:spPr>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6 · 25% LOSS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The first ping can lose a packet</a:t>
            </a:r>
          </a:p>
        </p:txBody>
      </p:sp>
      <p:pic>
        <p:nvPicPr>
          <p:cNvPr id="4" name="Picture 3" descr="6.2.png"/>
          <p:cNvPicPr>
            <a:picLocks noChangeAspect="1"/>
          </p:cNvPicPr>
          <p:nvPr/>
        </p:nvPicPr>
        <p:blipFill rotWithShape="1">
          <a:blip r:embed="rId3"/>
          <a:srcRect l="0" t="8215" r="0" b="64297"/>
          <a:stretch>
            <a:fillRect/>
          </a:stretch>
        </p:blipFill>
        <p:spPr>
          <a:xfrm>
            <a:off x="1527048" y="1207008"/>
            <a:ext cx="9144000" cy="4079630"/>
          </a:xfrm>
          <a:prstGeom prst="rect">
            <a:avLst/>
          </a:prstGeom>
        </p:spPr>
      </p:pic>
      <p:sp>
        <p:nvSpPr>
          <p:cNvPr id="5" name="Rectangle 4"/>
          <p:cNvSpPr/>
          <p:nvPr/>
        </p:nvSpPr>
        <p:spPr>
          <a:xfrm>
            <a:off x="1527048" y="1207008"/>
            <a:ext cx="9144000" cy="4079630"/>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1527048" y="5440680"/>
            <a:ext cx="9144000" cy="411480"/>
          </a:xfrm>
          <a:prstGeom prst="rect">
            <a:avLst/>
          </a:prstGeom>
          <a:noFill/>
        </p:spPr>
        <p:txBody>
          <a:bodyPr wrap="square" lIns="0" tIns="0" rIns="0" bIns="0" anchor="t"/>
          <a:lstStyle/>
          <a:p>
            <a:pPr algn="l">
              <a:lnSpc>
                <a:spcPct val="100000"/>
              </a:lnSpc>
              <a:spcAft>
                <a:spcPts val="0"/>
              </a:spcAft>
            </a:pPr>
            <a:r>
              <a:rPr sz="2700" b="1">
                <a:solidFill>
                  <a:srgbClr val="0B5B4A"/>
                </a:solidFill>
                <a:latin typeface="Calibri"/>
              </a:rPr>
              <a:t>First: 3 of 4 replies  ·  Repeat: 4 of 4.</a:t>
            </a:r>
          </a:p>
        </p:txBody>
      </p:sp>
      <p:sp>
        <p:nvSpPr>
          <p:cNvPr id="7" name="TextBox 6"/>
          <p:cNvSpPr txBox="1"/>
          <p:nvPr/>
        </p:nvSpPr>
        <p:spPr>
          <a:xfrm>
            <a:off x="1527048" y="5943600"/>
            <a:ext cx="9144000" cy="329184"/>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ARP warm-up is normal. Retest before troubleshooting.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7 · VLANS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Segment at Layer 2, route at Layer 3</a:t>
            </a:r>
          </a:p>
        </p:txBody>
      </p:sp>
      <p:pic>
        <p:nvPicPr>
          <p:cNvPr id="4" name="Picture 3" descr="7.1.png"/>
          <p:cNvPicPr>
            <a:picLocks noChangeAspect="1"/>
          </p:cNvPicPr>
          <p:nvPr/>
        </p:nvPicPr>
        <p:blipFill rotWithShape="1">
          <a:blip r:embed="rId3"/>
          <a:srcRect l="3613" t="2640" r="5361" b="0"/>
          <a:stretch>
            <a:fillRect/>
          </a:stretch>
        </p:blipFill>
        <p:spPr>
          <a:xfrm>
            <a:off x="502920" y="1188720"/>
            <a:ext cx="6400800" cy="5138670"/>
          </a:xfrm>
          <a:prstGeom prst="rect">
            <a:avLst/>
          </a:prstGeom>
        </p:spPr>
      </p:pic>
      <p:sp>
        <p:nvSpPr>
          <p:cNvPr id="5" name="Rectangle 4"/>
          <p:cNvSpPr/>
          <p:nvPr/>
        </p:nvSpPr>
        <p:spPr>
          <a:xfrm>
            <a:off x="502920" y="1188720"/>
            <a:ext cx="6400800" cy="5138670"/>
          </a:xfrm>
          <a:prstGeom prst="rect">
            <a:avLst/>
          </a:prstGeom>
          <a:noFill/>
          <a:ln w="9525">
            <a:solidFill>
              <a:srgbClr val="D9D5CA"/>
            </a:solidFill>
          </a:ln>
          <a:effectLst/>
        </p:spPr>
        <p:txBody>
          <a:bodyPr rtlCol="0" anchor="ctr"/>
          <a:lstStyle/>
          <a:p>
            <a:pPr algn="ctr"/>
          </a:p>
        </p:txBody>
      </p:sp>
      <p:sp>
        <p:nvSpPr>
          <p:cNvPr id="6" name="TextBox 5"/>
          <p:cNvSpPr txBox="1"/>
          <p:nvPr/>
        </p:nvSpPr>
        <p:spPr>
          <a:xfrm>
            <a:off x="7178040" y="1280160"/>
            <a:ext cx="4526280" cy="219456"/>
          </a:xfrm>
          <a:prstGeom prst="rect">
            <a:avLst/>
          </a:prstGeom>
          <a:noFill/>
        </p:spPr>
        <p:txBody>
          <a:bodyPr wrap="square" lIns="0" tIns="0" rIns="0" bIns="0" anchor="t"/>
          <a:lstStyle/>
          <a:p>
            <a:pPr algn="l">
              <a:lnSpc>
                <a:spcPct val="100000"/>
              </a:lnSpc>
              <a:spcAft>
                <a:spcPts val="0"/>
              </a:spcAft>
            </a:pPr>
            <a:r>
              <a:rPr sz="1800" b="1">
                <a:solidFill>
                  <a:srgbClr val="0B5B4A"/>
                </a:solidFill>
                <a:latin typeface="Calibri"/>
              </a:rPr>
              <a:t>VLAN 10</a:t>
            </a:r>
          </a:p>
        </p:txBody>
      </p:sp>
      <p:sp>
        <p:nvSpPr>
          <p:cNvPr id="7" name="TextBox 6"/>
          <p:cNvSpPr txBox="1"/>
          <p:nvPr/>
        </p:nvSpPr>
        <p:spPr>
          <a:xfrm>
            <a:off x="7178040" y="1554480"/>
            <a:ext cx="4526280" cy="411480"/>
          </a:xfrm>
          <a:prstGeom prst="rect">
            <a:avLst/>
          </a:prstGeom>
          <a:noFill/>
        </p:spPr>
        <p:txBody>
          <a:bodyPr wrap="square" lIns="0" tIns="0" rIns="0" bIns="0" anchor="t"/>
          <a:lstStyle/>
          <a:p>
            <a:pPr algn="l">
              <a:lnSpc>
                <a:spcPct val="100000"/>
              </a:lnSpc>
              <a:spcAft>
                <a:spcPts val="0"/>
              </a:spcAft>
            </a:pPr>
            <a:r>
              <a:rPr sz="2400" b="1">
                <a:solidFill>
                  <a:srgbClr val="141817"/>
                </a:solidFill>
                <a:latin typeface="Calibri"/>
              </a:rPr>
              <a:t>192.168.5.0/24</a:t>
            </a:r>
          </a:p>
        </p:txBody>
      </p:sp>
      <p:sp>
        <p:nvSpPr>
          <p:cNvPr id="8" name="TextBox 7"/>
          <p:cNvSpPr txBox="1"/>
          <p:nvPr/>
        </p:nvSpPr>
        <p:spPr>
          <a:xfrm>
            <a:off x="7178040" y="2148840"/>
            <a:ext cx="4526280" cy="219456"/>
          </a:xfrm>
          <a:prstGeom prst="rect">
            <a:avLst/>
          </a:prstGeom>
          <a:noFill/>
        </p:spPr>
        <p:txBody>
          <a:bodyPr wrap="square" lIns="0" tIns="0" rIns="0" bIns="0" anchor="t"/>
          <a:lstStyle/>
          <a:p>
            <a:pPr algn="l">
              <a:lnSpc>
                <a:spcPct val="100000"/>
              </a:lnSpc>
              <a:spcAft>
                <a:spcPts val="0"/>
              </a:spcAft>
            </a:pPr>
            <a:r>
              <a:rPr sz="1800" b="1">
                <a:solidFill>
                  <a:srgbClr val="0B5B4A"/>
                </a:solidFill>
                <a:latin typeface="Calibri"/>
              </a:rPr>
              <a:t>VLAN 20</a:t>
            </a:r>
          </a:p>
        </p:txBody>
      </p:sp>
      <p:sp>
        <p:nvSpPr>
          <p:cNvPr id="9" name="TextBox 8"/>
          <p:cNvSpPr txBox="1"/>
          <p:nvPr/>
        </p:nvSpPr>
        <p:spPr>
          <a:xfrm>
            <a:off x="7178040" y="2423160"/>
            <a:ext cx="4526280" cy="411480"/>
          </a:xfrm>
          <a:prstGeom prst="rect">
            <a:avLst/>
          </a:prstGeom>
          <a:noFill/>
        </p:spPr>
        <p:txBody>
          <a:bodyPr wrap="square" lIns="0" tIns="0" rIns="0" bIns="0" anchor="t"/>
          <a:lstStyle/>
          <a:p>
            <a:pPr algn="l">
              <a:lnSpc>
                <a:spcPct val="100000"/>
              </a:lnSpc>
              <a:spcAft>
                <a:spcPts val="0"/>
              </a:spcAft>
            </a:pPr>
            <a:r>
              <a:rPr sz="2400" b="1">
                <a:solidFill>
                  <a:srgbClr val="141817"/>
                </a:solidFill>
                <a:latin typeface="Calibri"/>
              </a:rPr>
              <a:t>192.168.6.0/24</a:t>
            </a:r>
          </a:p>
        </p:txBody>
      </p:sp>
      <p:sp>
        <p:nvSpPr>
          <p:cNvPr id="10" name="TextBox 9"/>
          <p:cNvSpPr txBox="1"/>
          <p:nvPr/>
        </p:nvSpPr>
        <p:spPr>
          <a:xfrm>
            <a:off x="7178040" y="3017520"/>
            <a:ext cx="4526280" cy="329184"/>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Access port = one VLAN.</a:t>
            </a:r>
          </a:p>
        </p:txBody>
      </p:sp>
      <p:sp>
        <p:nvSpPr>
          <p:cNvPr id="11" name="TextBox 10"/>
          <p:cNvSpPr txBox="1"/>
          <p:nvPr/>
        </p:nvSpPr>
        <p:spPr>
          <a:xfrm>
            <a:off x="7178040" y="3520440"/>
            <a:ext cx="4526280" cy="54864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Trunk = all VLANs, tagged 802.1Q.</a:t>
            </a:r>
          </a:p>
        </p:txBody>
      </p:sp>
      <p:sp>
        <p:nvSpPr>
          <p:cNvPr id="12" name="TextBox 11"/>
          <p:cNvSpPr txBox="1"/>
          <p:nvPr/>
        </p:nvSpPr>
        <p:spPr>
          <a:xfrm>
            <a:off x="7178040" y="4297680"/>
            <a:ext cx="4526280" cy="640080"/>
          </a:xfrm>
          <a:prstGeom prst="rect">
            <a:avLst/>
          </a:prstGeom>
          <a:noFill/>
        </p:spPr>
        <p:txBody>
          <a:bodyPr wrap="square" lIns="0" tIns="0" rIns="0" bIns="0" anchor="t"/>
          <a:lstStyle/>
          <a:p>
            <a:pPr algn="l">
              <a:lnSpc>
                <a:spcPct val="100000"/>
              </a:lnSpc>
              <a:spcAft>
                <a:spcPts val="0"/>
              </a:spcAft>
            </a:pPr>
            <a:r>
              <a:rPr sz="2000" b="0">
                <a:solidFill>
                  <a:srgbClr val="141817"/>
                </a:solidFill>
                <a:latin typeface="Calibri"/>
              </a:rPr>
              <a:t>One subinterface per VLAN = its gateway.</a:t>
            </a:r>
          </a:p>
        </p:txBody>
      </p:sp>
      <p:sp>
        <p:nvSpPr>
          <p:cNvPr id="13" name="TextBox 12"/>
          <p:cNvSpPr txBox="1"/>
          <p:nvPr/>
        </p:nvSpPr>
        <p:spPr>
          <a:xfrm>
            <a:off x="7178040" y="5349240"/>
            <a:ext cx="4526280" cy="822960"/>
          </a:xfrm>
          <a:prstGeom prst="rect">
            <a:avLst/>
          </a:prstGeom>
          <a:noFill/>
        </p:spPr>
        <p:txBody>
          <a:bodyPr wrap="square" lIns="0" tIns="0" rIns="0" bIns="0" anchor="t"/>
          <a:lstStyle/>
          <a:p>
            <a:pPr algn="l">
              <a:lnSpc>
                <a:spcPct val="100000"/>
              </a:lnSpc>
              <a:spcAft>
                <a:spcPts val="0"/>
              </a:spcAft>
            </a:pPr>
            <a:r>
              <a:rPr sz="1900" b="1">
                <a:solidFill>
                  <a:srgbClr val="0B5B4A"/>
                </a:solidFill>
                <a:latin typeface="Calibri"/>
              </a:rPr>
              <a:t>VLANs isolate broadcasts; they do not route.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LAB 7 · CONFIGURATION</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One subinterface per VLAN</a:t>
            </a:r>
          </a:p>
        </p:txBody>
      </p:sp>
      <p:sp>
        <p:nvSpPr>
          <p:cNvPr id="4" name="Rectangle 3"/>
          <p:cNvSpPr/>
          <p:nvPr/>
        </p:nvSpPr>
        <p:spPr>
          <a:xfrm>
            <a:off x="502920" y="1371600"/>
            <a:ext cx="11173968" cy="3150107"/>
          </a:xfrm>
          <a:prstGeom prst="rect">
            <a:avLst/>
          </a:prstGeom>
          <a:solidFill>
            <a:srgbClr val="101A17"/>
          </a:solidFill>
          <a:ln>
            <a:noFill/>
          </a:ln>
          <a:effectLst/>
        </p:spPr>
        <p:txBody>
          <a:bodyPr rtlCol="0" anchor="ctr"/>
          <a:lstStyle/>
          <a:p>
            <a:pPr algn="ctr"/>
          </a:p>
        </p:txBody>
      </p:sp>
      <p:sp>
        <p:nvSpPr>
          <p:cNvPr id="5" name="TextBox 4"/>
          <p:cNvSpPr txBox="1"/>
          <p:nvPr/>
        </p:nvSpPr>
        <p:spPr>
          <a:xfrm>
            <a:off x="758952" y="1591056"/>
            <a:ext cx="10661904" cy="2839211"/>
          </a:xfrm>
          <a:prstGeom prst="rect">
            <a:avLst/>
          </a:prstGeom>
          <a:noFill/>
        </p:spPr>
        <p:txBody>
          <a:bodyPr wrap="none" lIns="0" tIns="0" rIns="0" bIns="0" anchor="t"/>
          <a:lstStyle/>
          <a:p>
            <a:pPr>
              <a:lnSpc>
                <a:spcPct val="112000"/>
              </a:lnSpc>
              <a:spcAft>
                <a:spcPts val="150"/>
              </a:spcAft>
            </a:pPr>
            <a:r>
              <a:rPr sz="1800">
                <a:solidFill>
                  <a:srgbClr val="F3F7F5"/>
                </a:solidFill>
                <a:latin typeface="Consolas"/>
              </a:rPr>
              <a:t>S(config)</a:t>
            </a:r>
            <a:r>
              <a:rPr sz="1800">
                <a:solidFill>
                  <a:srgbClr val="9AB6AC"/>
                </a:solidFill>
                <a:latin typeface="Consolas"/>
              </a:rPr>
              <a:t># interface fa0/2</a:t>
            </a:r>
          </a:p>
          <a:p>
            <a:pPr>
              <a:lnSpc>
                <a:spcPct val="112000"/>
              </a:lnSpc>
              <a:spcAft>
                <a:spcPts val="150"/>
              </a:spcAft>
            </a:pPr>
            <a:r>
              <a:rPr sz="1800">
                <a:solidFill>
                  <a:srgbClr val="F3F7F5"/>
                </a:solidFill>
                <a:latin typeface="Consolas"/>
              </a:rPr>
              <a:t>S(config-if)</a:t>
            </a:r>
            <a:r>
              <a:rPr sz="1800">
                <a:solidFill>
                  <a:srgbClr val="9AB6AC"/>
                </a:solidFill>
                <a:latin typeface="Consolas"/>
              </a:rPr>
              <a:t># switchport mode access</a:t>
            </a:r>
          </a:p>
          <a:p>
            <a:pPr>
              <a:lnSpc>
                <a:spcPct val="112000"/>
              </a:lnSpc>
              <a:spcAft>
                <a:spcPts val="150"/>
              </a:spcAft>
            </a:pPr>
            <a:r>
              <a:rPr sz="1800">
                <a:solidFill>
                  <a:srgbClr val="F3F7F5"/>
                </a:solidFill>
                <a:latin typeface="Consolas"/>
              </a:rPr>
              <a:t>S(config-if)</a:t>
            </a:r>
            <a:r>
              <a:rPr sz="1800">
                <a:solidFill>
                  <a:srgbClr val="9AB6AC"/>
                </a:solidFill>
                <a:latin typeface="Consolas"/>
              </a:rPr>
              <a:t># switchport access vlan 10</a:t>
            </a:r>
          </a:p>
          <a:p>
            <a:pPr>
              <a:lnSpc>
                <a:spcPct val="112000"/>
              </a:lnSpc>
              <a:spcAft>
                <a:spcPts val="150"/>
              </a:spcAft>
            </a:pPr>
            <a:r>
              <a:rPr sz="1800">
                <a:solidFill>
                  <a:srgbClr val="F3F7F5"/>
                </a:solidFill>
                <a:latin typeface="Consolas"/>
              </a:rPr>
              <a:t>S(config)</a:t>
            </a:r>
            <a:r>
              <a:rPr sz="1800">
                <a:solidFill>
                  <a:srgbClr val="9AB6AC"/>
                </a:solidFill>
                <a:latin typeface="Consolas"/>
              </a:rPr>
              <a:t># interface fa0/1</a:t>
            </a:r>
          </a:p>
          <a:p>
            <a:pPr>
              <a:lnSpc>
                <a:spcPct val="112000"/>
              </a:lnSpc>
              <a:spcAft>
                <a:spcPts val="150"/>
              </a:spcAft>
            </a:pPr>
            <a:r>
              <a:rPr sz="1800">
                <a:solidFill>
                  <a:srgbClr val="F3F7F5"/>
                </a:solidFill>
                <a:latin typeface="Consolas"/>
              </a:rPr>
              <a:t>S(config-if)</a:t>
            </a:r>
            <a:r>
              <a:rPr sz="1800">
                <a:solidFill>
                  <a:srgbClr val="9AB6AC"/>
                </a:solidFill>
                <a:latin typeface="Consolas"/>
              </a:rPr>
              <a:t># switchport mode trunk</a:t>
            </a:r>
          </a:p>
          <a:p>
            <a:pPr>
              <a:lnSpc>
                <a:spcPct val="112000"/>
              </a:lnSpc>
              <a:spcAft>
                <a:spcPts val="150"/>
              </a:spcAft>
            </a:pPr>
            <a:r>
              <a:rPr sz="1800">
                <a:solidFill>
                  <a:srgbClr val="F3F7F5"/>
                </a:solidFill>
                <a:latin typeface="Consolas"/>
              </a:rPr>
              <a:t>R(config)</a:t>
            </a:r>
            <a:r>
              <a:rPr sz="1800">
                <a:solidFill>
                  <a:srgbClr val="9AB6AC"/>
                </a:solidFill>
                <a:latin typeface="Consolas"/>
              </a:rPr>
              <a:t># interface fa0/0.10</a:t>
            </a:r>
          </a:p>
          <a:p>
            <a:pPr>
              <a:lnSpc>
                <a:spcPct val="112000"/>
              </a:lnSpc>
              <a:spcAft>
                <a:spcPts val="150"/>
              </a:spcAft>
            </a:pPr>
            <a:r>
              <a:rPr sz="1800">
                <a:solidFill>
                  <a:srgbClr val="F3F7F5"/>
                </a:solidFill>
                <a:latin typeface="Consolas"/>
              </a:rPr>
              <a:t>R(config-subif)</a:t>
            </a:r>
            <a:r>
              <a:rPr sz="1800">
                <a:solidFill>
                  <a:srgbClr val="9AB6AC"/>
                </a:solidFill>
                <a:latin typeface="Consolas"/>
              </a:rPr>
              <a:t># encapsulation dot1Q 10</a:t>
            </a:r>
          </a:p>
          <a:p>
            <a:pPr>
              <a:lnSpc>
                <a:spcPct val="112000"/>
              </a:lnSpc>
              <a:spcAft>
                <a:spcPts val="150"/>
              </a:spcAft>
            </a:pPr>
            <a:r>
              <a:rPr sz="1800">
                <a:solidFill>
                  <a:srgbClr val="F3F7F5"/>
                </a:solidFill>
                <a:latin typeface="Consolas"/>
              </a:rPr>
              <a:t>R(config-subif)</a:t>
            </a:r>
            <a:r>
              <a:rPr sz="1800">
                <a:solidFill>
                  <a:srgbClr val="9AB6AC"/>
                </a:solidFill>
                <a:latin typeface="Consolas"/>
              </a:rPr>
              <a:t># ip address 192.168.5.1 255.255.255.0</a:t>
            </a:r>
          </a:p>
          <a:p>
            <a:pPr>
              <a:lnSpc>
                <a:spcPct val="112000"/>
              </a:lnSpc>
              <a:spcAft>
                <a:spcPts val="150"/>
              </a:spcAft>
            </a:pPr>
            <a:r>
              <a:rPr sz="1800">
                <a:solidFill>
                  <a:srgbClr val="9AB6AC"/>
                </a:solidFill>
                <a:latin typeface="Consolas"/>
              </a:rPr>
              <a:t># VLAN 20: fa0/0.20, dot1Q 20, 192.168.6.1</a:t>
            </a:r>
          </a:p>
        </p:txBody>
      </p:sp>
      <p:sp>
        <p:nvSpPr>
          <p:cNvPr id="6" name="TextBox 5"/>
          <p:cNvSpPr txBox="1"/>
          <p:nvPr/>
        </p:nvSpPr>
        <p:spPr>
          <a:xfrm>
            <a:off x="502920" y="4709160"/>
            <a:ext cx="11155680" cy="347472"/>
          </a:xfrm>
          <a:prstGeom prst="rect">
            <a:avLst/>
          </a:prstGeom>
          <a:noFill/>
        </p:spPr>
        <p:txBody>
          <a:bodyPr wrap="square" lIns="0" tIns="0" rIns="0" bIns="0" anchor="t"/>
          <a:lstStyle/>
          <a:p>
            <a:pPr algn="l">
              <a:lnSpc>
                <a:spcPct val="100000"/>
              </a:lnSpc>
              <a:spcAft>
                <a:spcPts val="0"/>
              </a:spcAft>
            </a:pPr>
            <a:r>
              <a:rPr sz="2100" b="0">
                <a:solidFill>
                  <a:srgbClr val="141817"/>
                </a:solidFill>
                <a:latin typeface="Calibri"/>
              </a:rPr>
              <a:t>VLAN 20: same pattern, gateway 192.168.6.1.</a:t>
            </a:r>
          </a:p>
        </p:txBody>
      </p:sp>
      <p:sp>
        <p:nvSpPr>
          <p:cNvPr id="7" name="TextBox 6"/>
          <p:cNvSpPr txBox="1"/>
          <p:nvPr/>
        </p:nvSpPr>
        <p:spPr>
          <a:xfrm>
            <a:off x="502920" y="5212080"/>
            <a:ext cx="11155680" cy="329184"/>
          </a:xfrm>
          <a:prstGeom prst="rect">
            <a:avLst/>
          </a:prstGeom>
          <a:noFill/>
        </p:spPr>
        <p:txBody>
          <a:bodyPr wrap="square" lIns="0" tIns="0" rIns="0" bIns="0" anchor="t"/>
          <a:lstStyle/>
          <a:p>
            <a:pPr algn="l">
              <a:lnSpc>
                <a:spcPct val="100000"/>
              </a:lnSpc>
              <a:spcAft>
                <a:spcPts val="0"/>
              </a:spcAft>
            </a:pPr>
            <a:r>
              <a:rPr sz="1900" b="0">
                <a:solidFill>
                  <a:srgbClr val="555E59"/>
                </a:solidFill>
                <a:latin typeface="Calibri"/>
              </a:rPr>
              <a:t>Access = one VLAN  ·  trunk = all VLANs tagged.</a:t>
            </a:r>
          </a:p>
        </p:txBody>
      </p:sp>
      <p:sp>
        <p:nvSpPr>
          <p:cNvPr id="8" name="TextBox 7"/>
          <p:cNvSpPr txBox="1"/>
          <p:nvPr/>
        </p:nvSpPr>
        <p:spPr>
          <a:xfrm>
            <a:off x="502920" y="5733288"/>
            <a:ext cx="11155680" cy="365760"/>
          </a:xfrm>
          <a:prstGeom prst="rect">
            <a:avLst/>
          </a:prstGeom>
          <a:noFill/>
        </p:spPr>
        <p:txBody>
          <a:bodyPr wrap="square" lIns="0" tIns="0" rIns="0" bIns="0" anchor="t"/>
          <a:lstStyle/>
          <a:p>
            <a:pPr algn="l">
              <a:lnSpc>
                <a:spcPct val="100000"/>
              </a:lnSpc>
              <a:spcAft>
                <a:spcPts val="0"/>
              </a:spcAft>
            </a:pPr>
            <a:r>
              <a:rPr sz="2000" b="1">
                <a:solidFill>
                  <a:srgbClr val="0B5B4A"/>
                </a:solidFill>
                <a:latin typeface="Calibri"/>
              </a:rPr>
              <a:t>VLANs isolate broadcasts; subinterfaces route.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058400" cy="219456"/>
          </a:xfrm>
          <a:prstGeom prst="rect">
            <a:avLst/>
          </a:prstGeom>
          <a:noFill/>
        </p:spPr>
        <p:txBody>
          <a:bodyPr wrap="square" lIns="0" tIns="0" rIns="0" bIns="0" anchor="t"/>
          <a:lstStyle/>
          <a:p>
            <a:pPr algn="l">
              <a:lnSpc>
                <a:spcPct val="100000"/>
              </a:lnSpc>
              <a:spcAft>
                <a:spcPts val="0"/>
              </a:spcAft>
            </a:pPr>
            <a:r>
              <a:rPr sz="1200" b="1">
                <a:solidFill>
                  <a:srgbClr val="0B5B4A"/>
                </a:solidFill>
                <a:latin typeface="Calibri"/>
              </a:rPr>
              <a:t>SYNTHESIS</a:t>
            </a:r>
          </a:p>
        </p:txBody>
      </p:sp>
      <p:sp>
        <p:nvSpPr>
          <p:cNvPr id="3" name="TextBox 2"/>
          <p:cNvSpPr txBox="1"/>
          <p:nvPr/>
        </p:nvSpPr>
        <p:spPr>
          <a:xfrm>
            <a:off x="502920" y="603504"/>
            <a:ext cx="11155680" cy="530352"/>
          </a:xfrm>
          <a:prstGeom prst="rect">
            <a:avLst/>
          </a:prstGeom>
          <a:noFill/>
        </p:spPr>
        <p:txBody>
          <a:bodyPr wrap="square" lIns="0" tIns="0" rIns="0" bIns="0" anchor="t"/>
          <a:lstStyle/>
          <a:p>
            <a:pPr algn="l">
              <a:lnSpc>
                <a:spcPct val="95000"/>
              </a:lnSpc>
              <a:spcAft>
                <a:spcPts val="0"/>
              </a:spcAft>
            </a:pPr>
            <a:r>
              <a:rPr sz="3100" b="1">
                <a:solidFill>
                  <a:srgbClr val="141817"/>
                </a:solidFill>
                <a:latin typeface="Calibri"/>
              </a:rPr>
              <a:t>Find the boundary, then read the table</a:t>
            </a:r>
          </a:p>
        </p:txBody>
      </p:sp>
      <p:sp>
        <p:nvSpPr>
          <p:cNvPr id="4" name="TextBox 3"/>
          <p:cNvSpPr txBox="1"/>
          <p:nvPr/>
        </p:nvSpPr>
        <p:spPr>
          <a:xfrm>
            <a:off x="502920" y="1417320"/>
            <a:ext cx="4206240" cy="365760"/>
          </a:xfrm>
          <a:prstGeom prst="rect">
            <a:avLst/>
          </a:prstGeom>
          <a:noFill/>
        </p:spPr>
        <p:txBody>
          <a:bodyPr wrap="square" lIns="0" tIns="0" rIns="0" bIns="0" anchor="t"/>
          <a:lstStyle/>
          <a:p>
            <a:pPr algn="l">
              <a:lnSpc>
                <a:spcPct val="100000"/>
              </a:lnSpc>
              <a:spcAft>
                <a:spcPts val="0"/>
              </a:spcAft>
            </a:pPr>
            <a:r>
              <a:rPr sz="2300" b="1">
                <a:solidFill>
                  <a:srgbClr val="141817"/>
                </a:solidFill>
                <a:latin typeface="Calibri"/>
              </a:rPr>
              <a:t>Same subnet</a:t>
            </a:r>
          </a:p>
        </p:txBody>
      </p:sp>
      <p:sp>
        <p:nvSpPr>
          <p:cNvPr id="5" name="TextBox 4"/>
          <p:cNvSpPr txBox="1"/>
          <p:nvPr/>
        </p:nvSpPr>
        <p:spPr>
          <a:xfrm>
            <a:off x="4983480" y="1417320"/>
            <a:ext cx="4937760" cy="36576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ARP + switch</a:t>
            </a:r>
          </a:p>
        </p:txBody>
      </p:sp>
      <p:sp>
        <p:nvSpPr>
          <p:cNvPr id="6" name="TextBox 5"/>
          <p:cNvSpPr txBox="1"/>
          <p:nvPr/>
        </p:nvSpPr>
        <p:spPr>
          <a:xfrm>
            <a:off x="10012680" y="1417320"/>
            <a:ext cx="1691640" cy="274320"/>
          </a:xfrm>
          <a:prstGeom prst="rect">
            <a:avLst/>
          </a:prstGeom>
          <a:noFill/>
        </p:spPr>
        <p:txBody>
          <a:bodyPr wrap="square" lIns="0" tIns="0" rIns="0" bIns="0" anchor="t"/>
          <a:lstStyle/>
          <a:p>
            <a:pPr algn="r">
              <a:lnSpc>
                <a:spcPct val="100000"/>
              </a:lnSpc>
              <a:spcAft>
                <a:spcPts val="0"/>
              </a:spcAft>
            </a:pPr>
            <a:r>
              <a:rPr sz="1400" b="1">
                <a:solidFill>
                  <a:srgbClr val="0B5B4A"/>
                </a:solidFill>
                <a:latin typeface="Calibri"/>
              </a:rPr>
              <a:t>Lab 2</a:t>
            </a:r>
          </a:p>
        </p:txBody>
      </p:sp>
      <p:sp>
        <p:nvSpPr>
          <p:cNvPr id="7" name="Rectangle 6"/>
          <p:cNvSpPr/>
          <p:nvPr/>
        </p:nvSpPr>
        <p:spPr>
          <a:xfrm>
            <a:off x="502920" y="2075688"/>
            <a:ext cx="11183112" cy="5486"/>
          </a:xfrm>
          <a:prstGeom prst="rect">
            <a:avLst/>
          </a:prstGeom>
          <a:solidFill>
            <a:srgbClr val="D9D5CA"/>
          </a:solidFill>
          <a:ln>
            <a:noFill/>
          </a:ln>
          <a:effectLst/>
        </p:spPr>
        <p:txBody>
          <a:bodyPr rtlCol="0" anchor="ctr"/>
          <a:lstStyle/>
          <a:p>
            <a:pPr algn="ctr"/>
          </a:p>
        </p:txBody>
      </p:sp>
      <p:sp>
        <p:nvSpPr>
          <p:cNvPr id="8" name="TextBox 7"/>
          <p:cNvSpPr txBox="1"/>
          <p:nvPr/>
        </p:nvSpPr>
        <p:spPr>
          <a:xfrm>
            <a:off x="502920" y="2377440"/>
            <a:ext cx="4206240" cy="365760"/>
          </a:xfrm>
          <a:prstGeom prst="rect">
            <a:avLst/>
          </a:prstGeom>
          <a:noFill/>
        </p:spPr>
        <p:txBody>
          <a:bodyPr wrap="square" lIns="0" tIns="0" rIns="0" bIns="0" anchor="t"/>
          <a:lstStyle/>
          <a:p>
            <a:pPr algn="l">
              <a:lnSpc>
                <a:spcPct val="100000"/>
              </a:lnSpc>
              <a:spcAft>
                <a:spcPts val="0"/>
              </a:spcAft>
            </a:pPr>
            <a:r>
              <a:rPr sz="2300" b="1">
                <a:solidFill>
                  <a:srgbClr val="141817"/>
                </a:solidFill>
                <a:latin typeface="Calibri"/>
              </a:rPr>
              <a:t>Different subnet</a:t>
            </a:r>
          </a:p>
        </p:txBody>
      </p:sp>
      <p:sp>
        <p:nvSpPr>
          <p:cNvPr id="9" name="TextBox 8"/>
          <p:cNvSpPr txBox="1"/>
          <p:nvPr/>
        </p:nvSpPr>
        <p:spPr>
          <a:xfrm>
            <a:off x="4983480" y="2377440"/>
            <a:ext cx="4937760" cy="36576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gateway + routing table</a:t>
            </a:r>
          </a:p>
        </p:txBody>
      </p:sp>
      <p:sp>
        <p:nvSpPr>
          <p:cNvPr id="10" name="TextBox 9"/>
          <p:cNvSpPr txBox="1"/>
          <p:nvPr/>
        </p:nvSpPr>
        <p:spPr>
          <a:xfrm>
            <a:off x="10012680" y="2377440"/>
            <a:ext cx="1691640" cy="274320"/>
          </a:xfrm>
          <a:prstGeom prst="rect">
            <a:avLst/>
          </a:prstGeom>
          <a:noFill/>
        </p:spPr>
        <p:txBody>
          <a:bodyPr wrap="square" lIns="0" tIns="0" rIns="0" bIns="0" anchor="t"/>
          <a:lstStyle/>
          <a:p>
            <a:pPr algn="r">
              <a:lnSpc>
                <a:spcPct val="100000"/>
              </a:lnSpc>
              <a:spcAft>
                <a:spcPts val="0"/>
              </a:spcAft>
            </a:pPr>
            <a:r>
              <a:rPr sz="1400" b="1">
                <a:solidFill>
                  <a:srgbClr val="0B5B4A"/>
                </a:solidFill>
                <a:latin typeface="Calibri"/>
              </a:rPr>
              <a:t>Lab 2, 4</a:t>
            </a:r>
          </a:p>
        </p:txBody>
      </p:sp>
      <p:sp>
        <p:nvSpPr>
          <p:cNvPr id="11" name="Rectangle 10"/>
          <p:cNvSpPr/>
          <p:nvPr/>
        </p:nvSpPr>
        <p:spPr>
          <a:xfrm>
            <a:off x="502920" y="3035808"/>
            <a:ext cx="11183112" cy="5486"/>
          </a:xfrm>
          <a:prstGeom prst="rect">
            <a:avLst/>
          </a:prstGeom>
          <a:solidFill>
            <a:srgbClr val="D9D5CA"/>
          </a:solidFill>
          <a:ln>
            <a:noFill/>
          </a:ln>
          <a:effectLst/>
        </p:spPr>
        <p:txBody>
          <a:bodyPr rtlCol="0" anchor="ctr"/>
          <a:lstStyle/>
          <a:p>
            <a:pPr algn="ctr"/>
          </a:p>
        </p:txBody>
      </p:sp>
      <p:sp>
        <p:nvSpPr>
          <p:cNvPr id="12" name="TextBox 11"/>
          <p:cNvSpPr txBox="1"/>
          <p:nvPr/>
        </p:nvSpPr>
        <p:spPr>
          <a:xfrm>
            <a:off x="502920" y="3337560"/>
            <a:ext cx="4206240" cy="365760"/>
          </a:xfrm>
          <a:prstGeom prst="rect">
            <a:avLst/>
          </a:prstGeom>
          <a:noFill/>
        </p:spPr>
        <p:txBody>
          <a:bodyPr wrap="square" lIns="0" tIns="0" rIns="0" bIns="0" anchor="t"/>
          <a:lstStyle/>
          <a:p>
            <a:pPr algn="l">
              <a:lnSpc>
                <a:spcPct val="100000"/>
              </a:lnSpc>
              <a:spcAft>
                <a:spcPts val="0"/>
              </a:spcAft>
            </a:pPr>
            <a:r>
              <a:rPr sz="2300" b="1">
                <a:solidFill>
                  <a:srgbClr val="141817"/>
                </a:solidFill>
                <a:latin typeface="Calibri"/>
              </a:rPr>
              <a:t>More hops</a:t>
            </a:r>
          </a:p>
        </p:txBody>
      </p:sp>
      <p:sp>
        <p:nvSpPr>
          <p:cNvPr id="13" name="TextBox 12"/>
          <p:cNvSpPr txBox="1"/>
          <p:nvPr/>
        </p:nvSpPr>
        <p:spPr>
          <a:xfrm>
            <a:off x="4983480" y="3337560"/>
            <a:ext cx="4937760" cy="36576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next-hop static route</a:t>
            </a:r>
          </a:p>
        </p:txBody>
      </p:sp>
      <p:sp>
        <p:nvSpPr>
          <p:cNvPr id="14" name="TextBox 13"/>
          <p:cNvSpPr txBox="1"/>
          <p:nvPr/>
        </p:nvSpPr>
        <p:spPr>
          <a:xfrm>
            <a:off x="10012680" y="3337560"/>
            <a:ext cx="1691640" cy="274320"/>
          </a:xfrm>
          <a:prstGeom prst="rect">
            <a:avLst/>
          </a:prstGeom>
          <a:noFill/>
        </p:spPr>
        <p:txBody>
          <a:bodyPr wrap="square" lIns="0" tIns="0" rIns="0" bIns="0" anchor="t"/>
          <a:lstStyle/>
          <a:p>
            <a:pPr algn="r">
              <a:lnSpc>
                <a:spcPct val="100000"/>
              </a:lnSpc>
              <a:spcAft>
                <a:spcPts val="0"/>
              </a:spcAft>
            </a:pPr>
            <a:r>
              <a:rPr sz="1400" b="1">
                <a:solidFill>
                  <a:srgbClr val="0B5B4A"/>
                </a:solidFill>
                <a:latin typeface="Calibri"/>
              </a:rPr>
              <a:t>Lab 4, 5, 6</a:t>
            </a:r>
          </a:p>
        </p:txBody>
      </p:sp>
      <p:sp>
        <p:nvSpPr>
          <p:cNvPr id="15" name="Rectangle 14"/>
          <p:cNvSpPr/>
          <p:nvPr/>
        </p:nvSpPr>
        <p:spPr>
          <a:xfrm>
            <a:off x="502920" y="3995928"/>
            <a:ext cx="11183112" cy="5486"/>
          </a:xfrm>
          <a:prstGeom prst="rect">
            <a:avLst/>
          </a:prstGeom>
          <a:solidFill>
            <a:srgbClr val="D9D5CA"/>
          </a:solidFill>
          <a:ln>
            <a:noFill/>
          </a:ln>
          <a:effectLst/>
        </p:spPr>
        <p:txBody>
          <a:bodyPr rtlCol="0" anchor="ctr"/>
          <a:lstStyle/>
          <a:p>
            <a:pPr algn="ctr"/>
          </a:p>
        </p:txBody>
      </p:sp>
      <p:sp>
        <p:nvSpPr>
          <p:cNvPr id="16" name="TextBox 15"/>
          <p:cNvSpPr txBox="1"/>
          <p:nvPr/>
        </p:nvSpPr>
        <p:spPr>
          <a:xfrm>
            <a:off x="502920" y="4297680"/>
            <a:ext cx="4206240" cy="365760"/>
          </a:xfrm>
          <a:prstGeom prst="rect">
            <a:avLst/>
          </a:prstGeom>
          <a:noFill/>
        </p:spPr>
        <p:txBody>
          <a:bodyPr wrap="square" lIns="0" tIns="0" rIns="0" bIns="0" anchor="t"/>
          <a:lstStyle/>
          <a:p>
            <a:pPr algn="l">
              <a:lnSpc>
                <a:spcPct val="100000"/>
              </a:lnSpc>
              <a:spcAft>
                <a:spcPts val="0"/>
              </a:spcAft>
            </a:pPr>
            <a:r>
              <a:rPr sz="2300" b="1">
                <a:solidFill>
                  <a:srgbClr val="141817"/>
                </a:solidFill>
                <a:latin typeface="Calibri"/>
              </a:rPr>
              <a:t>Different VLAN</a:t>
            </a:r>
          </a:p>
        </p:txBody>
      </p:sp>
      <p:sp>
        <p:nvSpPr>
          <p:cNvPr id="17" name="TextBox 16"/>
          <p:cNvSpPr txBox="1"/>
          <p:nvPr/>
        </p:nvSpPr>
        <p:spPr>
          <a:xfrm>
            <a:off x="4983480" y="4297680"/>
            <a:ext cx="4937760" cy="365760"/>
          </a:xfrm>
          <a:prstGeom prst="rect">
            <a:avLst/>
          </a:prstGeom>
          <a:noFill/>
        </p:spPr>
        <p:txBody>
          <a:bodyPr wrap="square" lIns="0" tIns="0" rIns="0" bIns="0" anchor="t"/>
          <a:lstStyle/>
          <a:p>
            <a:pPr algn="l">
              <a:lnSpc>
                <a:spcPct val="100000"/>
              </a:lnSpc>
              <a:spcAft>
                <a:spcPts val="0"/>
              </a:spcAft>
            </a:pPr>
            <a:r>
              <a:rPr sz="2000" b="0">
                <a:solidFill>
                  <a:srgbClr val="555E59"/>
                </a:solidFill>
                <a:latin typeface="Calibri"/>
              </a:rPr>
              <a:t>802.1Q trunk + subinterface</a:t>
            </a:r>
          </a:p>
        </p:txBody>
      </p:sp>
      <p:sp>
        <p:nvSpPr>
          <p:cNvPr id="18" name="TextBox 17"/>
          <p:cNvSpPr txBox="1"/>
          <p:nvPr/>
        </p:nvSpPr>
        <p:spPr>
          <a:xfrm>
            <a:off x="10012680" y="4297680"/>
            <a:ext cx="1691640" cy="274320"/>
          </a:xfrm>
          <a:prstGeom prst="rect">
            <a:avLst/>
          </a:prstGeom>
          <a:noFill/>
        </p:spPr>
        <p:txBody>
          <a:bodyPr wrap="square" lIns="0" tIns="0" rIns="0" bIns="0" anchor="t"/>
          <a:lstStyle/>
          <a:p>
            <a:pPr algn="r">
              <a:lnSpc>
                <a:spcPct val="100000"/>
              </a:lnSpc>
              <a:spcAft>
                <a:spcPts val="0"/>
              </a:spcAft>
            </a:pPr>
            <a:r>
              <a:rPr sz="1400" b="1">
                <a:solidFill>
                  <a:srgbClr val="0B5B4A"/>
                </a:solidFill>
                <a:latin typeface="Calibri"/>
              </a:rPr>
              <a:t>Lab 7</a:t>
            </a:r>
          </a:p>
        </p:txBody>
      </p:sp>
      <p:sp>
        <p:nvSpPr>
          <p:cNvPr id="19" name="Rectangle 18"/>
          <p:cNvSpPr/>
          <p:nvPr/>
        </p:nvSpPr>
        <p:spPr>
          <a:xfrm>
            <a:off x="502920" y="4956048"/>
            <a:ext cx="11183112" cy="5486"/>
          </a:xfrm>
          <a:prstGeom prst="rect">
            <a:avLst/>
          </a:prstGeom>
          <a:solidFill>
            <a:srgbClr val="D9D5CA"/>
          </a:solidFill>
          <a:ln>
            <a:noFill/>
          </a:ln>
          <a:effectLst/>
        </p:spPr>
        <p:txBody>
          <a:bodyPr rtlCol="0" anchor="ctr"/>
          <a:lstStyle/>
          <a:p>
            <a:pPr algn="ctr"/>
          </a:p>
        </p:txBody>
      </p:sp>
      <p:sp>
        <p:nvSpPr>
          <p:cNvPr id="20" name="TextBox 19"/>
          <p:cNvSpPr txBox="1"/>
          <p:nvPr/>
        </p:nvSpPr>
        <p:spPr>
          <a:xfrm>
            <a:off x="502920" y="5532120"/>
            <a:ext cx="11155680" cy="384048"/>
          </a:xfrm>
          <a:prstGeom prst="rect">
            <a:avLst/>
          </a:prstGeom>
          <a:noFill/>
        </p:spPr>
        <p:txBody>
          <a:bodyPr wrap="square" lIns="0" tIns="0" rIns="0" bIns="0" anchor="t"/>
          <a:lstStyle/>
          <a:p>
            <a:pPr algn="l">
              <a:lnSpc>
                <a:spcPct val="100000"/>
              </a:lnSpc>
              <a:spcAft>
                <a:spcPts val="0"/>
              </a:spcAft>
            </a:pPr>
            <a:r>
              <a:rPr sz="2200" b="1">
                <a:solidFill>
                  <a:srgbClr val="0B5B4A"/>
                </a:solidFill>
                <a:latin typeface="Calibri"/>
              </a:rPr>
              <a:t>Verify bottom-up: link → ARP → ping → name → page.</a:t>
            </a:r>
          </a:p>
        </p:txBody>
      </p:sp>
      <p:sp>
        <p:nvSpPr>
          <p:cNvPr id="21" name="TextBox 20"/>
          <p:cNvSpPr txBox="1"/>
          <p:nvPr/>
        </p:nvSpPr>
        <p:spPr>
          <a:xfrm>
            <a:off x="502920" y="6080760"/>
            <a:ext cx="11155680" cy="292608"/>
          </a:xfrm>
          <a:prstGeom prst="rect">
            <a:avLst/>
          </a:prstGeom>
          <a:noFill/>
        </p:spPr>
        <p:txBody>
          <a:bodyPr wrap="square" lIns="0" tIns="0" rIns="0" bIns="0" anchor="t"/>
          <a:lstStyle/>
          <a:p>
            <a:pPr algn="l">
              <a:lnSpc>
                <a:spcPct val="100000"/>
              </a:lnSpc>
              <a:spcAft>
                <a:spcPts val="0"/>
              </a:spcAft>
            </a:pPr>
            <a:r>
              <a:rPr sz="1800" b="0">
                <a:solidFill>
                  <a:srgbClr val="555E59"/>
                </a:solidFill>
                <a:latin typeface="Calibri"/>
              </a:rPr>
              <a:t>Questions?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algn="b" rotWithShape="0">
              <a:srgbClr val="000000">
                <a:alpha val="38000"/>
              </a:srgbClr>
            </a:outerShdw>
          </a:effectLst>
        </a:effectStyle>
        <a:effectStyle>
          <a:effectLst>
            <a:outerShdw blurRad="40000" dist="23000" dir="5400000" algn="b" rotWithShape="0">
              <a:srgbClr val="000000">
                <a:alpha val="35000"/>
              </a:srgbClr>
            </a:outerShdw>
          </a:effectLst>
        </a:effectStyle>
        <a:effectStyle>
          <a:effectLst>
            <a:outerShdw blurRad="40000" dist="23000" dir="5400000" algn="b" rotWithShape="0">
              <a:srgbClr val="000000">
                <a:alpha val="35000"/>
              </a:srgbClr>
            </a:outerShdw>
          </a:effectLst>
          <a:scene3d xmlns:a="http://schemas.openxmlformats.org/drawingml/2006/main">
            <a:camera prst="orthographicFront">
              <a:rot lat="0" lon="0" rev="0"/>
            </a:camera>
            <a:lightRig rig="threePt" dir="t">
              <a:rot lat="0" lon="0" rev="1200000"/>
            </a:lightRig>
          </a:scene3d>
          <a:sp3d xmlns:a="http://schemas.openxmlformats.org/drawingml/2006/main">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xmlns:a="http://schemas.openxmlformats.org/drawingml/2006/main"/>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algn="b" rotWithShape="0">
              <a:srgbClr val="000000">
                <a:alpha val="38000"/>
              </a:srgbClr>
            </a:outerShdw>
          </a:effectLst>
        </a:effectStyle>
        <a:effectStyle>
          <a:effectLst>
            <a:outerShdw blurRad="40000" dist="23000" dir="5400000" algn="b" rotWithShape="0">
              <a:srgbClr val="000000">
                <a:alpha val="35000"/>
              </a:srgbClr>
            </a:outerShdw>
          </a:effectLst>
        </a:effectStyle>
        <a:effectStyle>
          <a:effectLst>
            <a:outerShdw blurRad="40000" dist="23000" dir="5400000" algn="b" rotWithShape="0">
              <a:srgbClr val="000000">
                <a:alpha val="35000"/>
              </a:srgbClr>
            </a:outerShdw>
          </a:effectLst>
          <a:scene3d xmlns:a="http://schemas.openxmlformats.org/drawingml/2006/main">
            <a:camera prst="orthographicFront">
              <a:rot lat="0" lon="0" rev="0"/>
            </a:camera>
            <a:lightRig rig="threePt" dir="t">
              <a:rot lat="0" lon="0" rev="1200000"/>
            </a:lightRig>
          </a:scene3d>
          <a:sp3d xmlns:a="http://schemas.openxmlformats.org/drawingml/2006/main">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xmlns:a="http://schemas.openxmlformats.org/drawingml/2006/main"/>
</a:theme>
</file>

<file path=docProps/app.xml><?xml version="1.0" encoding="utf-8"?>
<Properties xmlns="http://schemas.openxmlformats.org/officeDocument/2006/extended-properties" xmlns:vt="http://schemas.openxmlformats.org/officeDocument/2006/docPropsVTypes">
  <Application>DeckCraft</Application>
  <Slides>17</Slides>
  <Notes>17</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Network, One Hop at a Time</dc:title>
  <dc:subject>CSE 360 Packet Tracer lab sequence</dc:subject>
  <dc:description>generated using python-pptx</dc:description>
  <cp:lastModifiedBy>Steve Canny</cp:lastModifiedBy>
  <cp:revision>1</cp:revision>
  <dcterms:created xsi:type="dcterms:W3CDTF">2013-01-27T09:14:16Z</dcterms:created>
  <dcterms:modified xsi:type="dcterms:W3CDTF">2013-01-27T09:15:58Z</dcterms:modified>
</cp:coreProperties>
</file>