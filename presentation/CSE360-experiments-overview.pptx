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41073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390704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1812317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645877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8664156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0929677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910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2162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0885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621BB3-EE9C-4330-490A-51E1AF1ABF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7195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42516932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Wireless demo folded into slide 3; small 3-router sketch folded into slides 8-9; DHCP variant folded into slide 10.</a:t>
            </a:r>
            <a:endParaRPr/>
          </a:p>
        </p:txBody>
      </p:sp>
      <p:sp>
        <p:nvSpPr>
          <p:cNvPr id="23629240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97532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3525190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Topology plus ping reply from my lab.</a:t>
            </a:r>
            <a:endParaRPr/>
          </a:p>
        </p:txBody>
      </p:sp>
      <p:sp>
        <p:nvSpPr>
          <p:cNvPr id="99779444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180305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75915445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Terminal session from my lab.</a:t>
            </a:r>
            <a:endParaRPr/>
          </a:p>
        </p:txBody>
      </p:sp>
      <p:sp>
        <p:nvSpPr>
          <p:cNvPr id="162061662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09058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57912048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My setup: JU 192.168.1.0/24 with DNS .1.3, DU 192.168.2.0/24 with DNS .2.3; both records on both servers.</a:t>
            </a:r>
            <a:endParaRPr/>
          </a:p>
        </p:txBody>
      </p:sp>
      <p:sp>
        <p:nvSpPr>
          <p:cNvPr id="188888604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707125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0172614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Packet walk: PC -&gt; gateway -&gt; static via middle net -&gt; far router -&gt; direct delivery; MAC rewritten each hop, IP unchanged.</a:t>
            </a:r>
            <a:endParaRPr/>
          </a:p>
        </p:txBody>
      </p:sp>
      <p:sp>
        <p:nvSpPr>
          <p:cNvPr id="57171148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06398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1498403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Hub topology from my lab.</a:t>
            </a:r>
            <a:endParaRPr/>
          </a:p>
        </p:txBody>
      </p:sp>
      <p:sp>
        <p:nvSpPr>
          <p:cNvPr id="19746063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50571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4237325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Expt-5 lab from my files.</a:t>
            </a:r>
            <a:endParaRPr/>
          </a:p>
        </p:txBody>
      </p:sp>
      <p:sp>
        <p:nvSpPr>
          <p:cNvPr id="103746623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20024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74462072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Expt-9 lab from my files.</a:t>
            </a:r>
            <a:endParaRPr/>
          </a:p>
        </p:txBody>
      </p:sp>
      <p:sp>
        <p:nvSpPr>
          <p:cNvPr id="67385639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24753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76499441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Expt-7 lab.</a:t>
            </a:r>
            <a:endParaRPr/>
          </a:p>
        </p:txBody>
      </p:sp>
      <p:sp>
        <p:nvSpPr>
          <p:cNvPr id="56447855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96293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58969494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One Successful simulation capture from my labs.</a:t>
            </a:r>
            <a:endParaRPr/>
          </a:p>
        </p:txBody>
      </p:sp>
      <p:sp>
        <p:nvSpPr>
          <p:cNvPr id="183734583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9847609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066425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402978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16518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78790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1580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6780557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10741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441326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28241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297856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6995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655446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871181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50149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96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674140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2736330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6864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96445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360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1950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97728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9949341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336760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944303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5581207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334693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55419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2487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571229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8033236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868376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1076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6051095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420704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8231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80830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58855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835482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738377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9621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02267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64194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8583835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422761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2357035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91022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1697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831270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927645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579536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84004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81849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494957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500214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970110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46841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28783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77771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32653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6240792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5029972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041980" name="TextBox 1"/>
          <p:cNvSpPr txBox="1"/>
          <p:nvPr/>
        </p:nvSpPr>
        <p:spPr bwMode="auto">
          <a:xfrm>
            <a:off x="548640" y="1463040"/>
            <a:ext cx="11064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357"/>
                </a:solidFill>
                <a:latin typeface="Calibri"/>
              </a:defRPr>
            </a:pPr>
            <a:r>
              <a:rPr/>
              <a:t>CSE 360: Networking Experiments Overview</a:t>
            </a:r>
            <a:endParaRPr/>
          </a:p>
        </p:txBody>
      </p:sp>
      <p:sp>
        <p:nvSpPr>
          <p:cNvPr id="1859778029" name="TextBox 2"/>
          <p:cNvSpPr txBox="1"/>
          <p:nvPr/>
        </p:nvSpPr>
        <p:spPr bwMode="auto">
          <a:xfrm>
            <a:off x="548640" y="283464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Calibri"/>
              </a:defRPr>
            </a:pPr>
            <a:r>
              <a:rPr/>
              <a:t>•  Short walkthrough of the labs in slides 2, 4, 5, 6 and 7.</a:t>
            </a:r>
            <a:endParaRPr/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Calibri"/>
              </a:defRPr>
            </a:pPr>
            <a:r>
              <a:rPr/>
              <a:t>•  Each section pairs the key ideas with results from my own Packet Tracer work.</a:t>
            </a:r>
            <a:endParaRPr/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Calibri"/>
              </a:defRPr>
            </a:pPr>
            <a:r>
              <a:rPr/>
              <a:t>•  Concepts: LANs, device access, DNS and web, static routing, serial links, VLANs.</a:t>
            </a:r>
            <a:endParaRPr/>
          </a:p>
        </p:txBody>
      </p:sp>
      <p:sp>
        <p:nvSpPr>
          <p:cNvPr id="422054292" name="TextBox 3"/>
          <p:cNvSpPr txBox="1"/>
          <p:nvPr/>
        </p:nvSpPr>
        <p:spPr bwMode="auto"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rPr/>
              <a:t>CSE 360 - Networking Experiments Overview   |   1/11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613668" name="TextBox 1"/>
          <p:cNvSpPr txBox="1"/>
          <p:nvPr/>
        </p:nvSpPr>
        <p:spPr bwMode="auto">
          <a:xfrm>
            <a:off x="548640" y="22860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357"/>
                </a:solidFill>
                <a:latin typeface="Calibri"/>
              </a:defRPr>
            </a:pPr>
            <a:r>
              <a:rPr/>
              <a:t>How the labs fit together</a:t>
            </a:r>
            <a:endParaRPr/>
          </a:p>
        </p:txBody>
      </p:sp>
      <p:sp>
        <p:nvSpPr>
          <p:cNvPr id="1610529869" name="TextBox 2"/>
          <p:cNvSpPr txBox="1"/>
          <p:nvPr/>
        </p:nvSpPr>
        <p:spPr bwMode="auto">
          <a:xfrm>
            <a:off x="548640" y="1234440"/>
            <a:ext cx="6675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rPr/>
              <a:t>•  Slides 3-5: local networks, device access, DNS and web (from slide set 2).</a:t>
            </a:r>
            <a:endParaRPr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rPr/>
              <a:t>•  Slides 6-7: static routing with two routers, plus the hub variant (from slide set 4).</a:t>
            </a:r>
            <a:endParaRPr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rPr/>
              <a:t>•  Slide 8: three routers in series (from slide set 5).</a:t>
            </a:r>
            <a:endParaRPr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rPr/>
              <a:t>•  Slide 9: mixed Ethernet and serial network (from slide set 6).</a:t>
            </a:r>
            <a:endParaRPr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rPr/>
              <a:t>•  Slide 10: VLANs with router-on-a-stick, static and DHCP addressing (from slide set 7).</a:t>
            </a:r>
            <a:endParaRPr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rPr/>
              <a:t>•  Slide 11: the check toolkit used in every lab.</a:t>
            </a:r>
            <a:endParaRPr/>
          </a:p>
        </p:txBody>
      </p:sp>
      <p:sp>
        <p:nvSpPr>
          <p:cNvPr id="787865030" name="TextBox 3"/>
          <p:cNvSpPr txBox="1"/>
          <p:nvPr/>
        </p:nvSpPr>
        <p:spPr bwMode="auto"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rPr/>
              <a:t>CSE 360 - Networking Experiments Overview   |   2/11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996200" name="TextBox 1"/>
          <p:cNvSpPr txBox="1"/>
          <p:nvPr/>
        </p:nvSpPr>
        <p:spPr bwMode="auto">
          <a:xfrm>
            <a:off x="548640" y="22860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357"/>
                </a:solidFill>
                <a:latin typeface="Calibri"/>
              </a:defRPr>
            </a:pPr>
            <a:r>
              <a:rPr/>
              <a:t>Same-subnet LANs: hub vs switch vs wireless</a:t>
            </a:r>
            <a:endParaRPr/>
          </a:p>
        </p:txBody>
      </p:sp>
      <p:sp>
        <p:nvSpPr>
          <p:cNvPr id="1229616925" name="TextBox 2"/>
          <p:cNvSpPr txBox="1"/>
          <p:nvPr/>
        </p:nvSpPr>
        <p:spPr bwMode="auto">
          <a:xfrm>
            <a:off x="548640" y="1234440"/>
            <a:ext cx="6675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Same mask 255.255.255.0 means same network, e.g. all 192.168.0.x talk with no router.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Hub repeats everything to all ports; one conversation at a time, collisions possible.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Switch learns MAC addresses and forwards only to the right port.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Wireless is the same subnet idea without cables.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Wait for green link lights (switch ports need ~30-60 s), then test with ping.</a:t>
            </a:r>
            <a:endParaRPr/>
          </a:p>
        </p:txBody>
      </p:sp>
      <p:sp>
        <p:nvSpPr>
          <p:cNvPr id="2024044214" name="TextBox 4"/>
          <p:cNvSpPr txBox="1"/>
          <p:nvPr/>
        </p:nvSpPr>
        <p:spPr bwMode="auto"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rPr/>
              <a:t>CSE 360 - Networking Experiments Overview   |   3/11</a:t>
            </a:r>
            <a:endParaRPr/>
          </a:p>
        </p:txBody>
      </p:sp>
      <p:pic>
        <p:nvPicPr>
          <p:cNvPr id="194590709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866991" y="736249"/>
            <a:ext cx="5296052" cy="4924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640708" name="TextBox 1"/>
          <p:cNvSpPr txBox="1"/>
          <p:nvPr/>
        </p:nvSpPr>
        <p:spPr bwMode="auto">
          <a:xfrm>
            <a:off x="548640" y="22860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357"/>
                </a:solidFill>
                <a:latin typeface="Calibri"/>
              </a:defRPr>
            </a:pPr>
            <a:r>
              <a:rPr/>
              <a:t>Talking to devices: console, passwords, Telnet, SSH</a:t>
            </a:r>
            <a:endParaRPr/>
          </a:p>
        </p:txBody>
      </p:sp>
      <p:sp>
        <p:nvSpPr>
          <p:cNvPr id="396875110" name="TextBox 2"/>
          <p:cNvSpPr txBox="1"/>
          <p:nvPr/>
        </p:nvSpPr>
        <p:spPr bwMode="auto">
          <a:xfrm>
            <a:off x="548640" y="1234440"/>
            <a:ext cx="6675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Console cable + Terminal gives Switch&gt; prompt directly on the box.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Modes: user (&gt;) , privileged (#) with enable, config with conf t.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enable secret = password for &gt; to #; line console 0 + login = console password.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line vty 0 4 = 5 remote Telnet slots at once; SSH (PuTTY) is the encrypted equivalent.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copy run startup-config (wr) saves, otherwise a reboot loses the work.</a:t>
            </a:r>
            <a:endParaRPr/>
          </a:p>
        </p:txBody>
      </p:sp>
      <p:sp>
        <p:nvSpPr>
          <p:cNvPr id="757932449" name="TextBox 4"/>
          <p:cNvSpPr txBox="1"/>
          <p:nvPr/>
        </p:nvSpPr>
        <p:spPr bwMode="auto"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rPr/>
              <a:t>CSE 360 - Networking Experiments Overview   |   4/11</a:t>
            </a:r>
            <a:endParaRPr/>
          </a:p>
        </p:txBody>
      </p:sp>
      <p:pic>
        <p:nvPicPr>
          <p:cNvPr id="11317993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281915" y="1037994"/>
            <a:ext cx="4798301" cy="40120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33482" name="TextBox 1"/>
          <p:cNvSpPr txBox="1"/>
          <p:nvPr/>
        </p:nvSpPr>
        <p:spPr bwMode="auto">
          <a:xfrm>
            <a:off x="548640" y="22860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357"/>
                </a:solidFill>
                <a:latin typeface="Calibri"/>
              </a:defRPr>
            </a:pPr>
            <a:r>
              <a:rPr/>
              <a:t>Client, DNS and web: JU / DU networks</a:t>
            </a:r>
            <a:endParaRPr/>
          </a:p>
        </p:txBody>
      </p:sp>
      <p:sp>
        <p:nvSpPr>
          <p:cNvPr id="925619559" name="TextBox 2"/>
          <p:cNvSpPr txBox="1"/>
          <p:nvPr/>
        </p:nvSpPr>
        <p:spPr bwMode="auto">
          <a:xfrm>
            <a:off x="548640" y="1234440"/>
            <a:ext cx="6675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PC fields: IP + mask + gateway (local router leg) + DNS server (which server to ask).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DNS A Record maps a name to an IP, e.g. www.ju.edu to 192.168.1.3. DNS Service must be On.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HTTP service hosts ju.html / du.html. URL = name + file, e.g. http://www.ju.edu/ju.html.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Router Fa0/0 192.168.1.4 and Fa0/1 192.168.2.4, both Port Status On.</a:t>
            </a:r>
            <a:endParaRPr/>
          </a:p>
        </p:txBody>
      </p:sp>
      <p:sp>
        <p:nvSpPr>
          <p:cNvPr id="1342279975" name="TextBox 5"/>
          <p:cNvSpPr txBox="1"/>
          <p:nvPr/>
        </p:nvSpPr>
        <p:spPr bwMode="auto"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rPr/>
              <a:t>CSE 360 - Networking Experiments Overview   |   5/11</a:t>
            </a:r>
            <a:endParaRPr/>
          </a:p>
        </p:txBody>
      </p:sp>
      <p:pic>
        <p:nvPicPr>
          <p:cNvPr id="203098237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106755" y="828260"/>
            <a:ext cx="4973461" cy="44597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243863" name="TextBox 1"/>
          <p:cNvSpPr txBox="1"/>
          <p:nvPr/>
        </p:nvSpPr>
        <p:spPr bwMode="auto">
          <a:xfrm>
            <a:off x="548640" y="22860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357"/>
                </a:solidFill>
                <a:latin typeface="Calibri"/>
              </a:defRPr>
            </a:pPr>
            <a:r>
              <a:rPr/>
              <a:t>Static routing with two routers</a:t>
            </a:r>
            <a:endParaRPr/>
          </a:p>
        </p:txBody>
      </p:sp>
      <p:sp>
        <p:nvSpPr>
          <p:cNvPr id="1723235553" name="TextBox 2"/>
          <p:cNvSpPr txBox="1"/>
          <p:nvPr/>
        </p:nvSpPr>
        <p:spPr bwMode="auto">
          <a:xfrm>
            <a:off x="548640" y="1234440"/>
            <a:ext cx="6675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Three /24 networks: left LAN, middle router-to-router net, right LAN.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Each interface: ip address + no shutdown (GUI: Port Status On).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Connected routes (C) appear alone; remote nets need ip route &lt;net&gt; &lt;mask&gt; &lt;next-hop&gt;.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Next hop must be directly reachable, e.g. 192.168.2.0 via 192.168.3.2.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Read sh ip route: C = connected, S [1/0] = static. ping !!!!! = 5 replies.</a:t>
            </a:r>
            <a:endParaRPr/>
          </a:p>
        </p:txBody>
      </p:sp>
      <p:sp>
        <p:nvSpPr>
          <p:cNvPr id="516297993" name="TextBox 5"/>
          <p:cNvSpPr txBox="1"/>
          <p:nvPr/>
        </p:nvSpPr>
        <p:spPr bwMode="auto"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rPr/>
              <a:t>CSE 360 - Networking Experiments Overview   |   6/11</a:t>
            </a:r>
            <a:endParaRPr/>
          </a:p>
        </p:txBody>
      </p:sp>
      <p:pic>
        <p:nvPicPr>
          <p:cNvPr id="10131323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906259" y="368741"/>
            <a:ext cx="5201565" cy="4725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773222" name="TextBox 1"/>
          <p:cNvSpPr txBox="1"/>
          <p:nvPr/>
        </p:nvSpPr>
        <p:spPr bwMode="auto">
          <a:xfrm>
            <a:off x="548640" y="22860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357"/>
                </a:solidFill>
                <a:latin typeface="Calibri"/>
              </a:defRPr>
            </a:pPr>
            <a:r>
              <a:rPr/>
              <a:t>Variant: a host on a hub between routers</a:t>
            </a:r>
            <a:endParaRPr/>
          </a:p>
        </p:txBody>
      </p:sp>
      <p:sp>
        <p:nvSpPr>
          <p:cNvPr id="1824830027" name="TextBox 2"/>
          <p:cNvSpPr txBox="1"/>
          <p:nvPr/>
        </p:nvSpPr>
        <p:spPr bwMode="auto">
          <a:xfrm>
            <a:off x="548640" y="1234440"/>
            <a:ext cx="6675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Same routing idea; the new part is the shared middle subnet.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Hub = one shared medium: Router0 leg + middle PC + Router1 leg all in 192.168.4.0/24.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Each router still needs one static route to the far end only.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Middle PC reaches both sides with no extra routes (it is directly connected).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Same port rule: every used interface Port Status On.</a:t>
            </a:r>
            <a:endParaRPr/>
          </a:p>
        </p:txBody>
      </p:sp>
      <p:sp>
        <p:nvSpPr>
          <p:cNvPr id="2000885652" name="TextBox 4"/>
          <p:cNvSpPr txBox="1"/>
          <p:nvPr/>
        </p:nvSpPr>
        <p:spPr bwMode="auto"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rPr/>
              <a:t>CSE 360 - Networking Experiments Overview   |   7/11</a:t>
            </a:r>
            <a:endParaRPr/>
          </a:p>
        </p:txBody>
      </p:sp>
      <p:pic>
        <p:nvPicPr>
          <p:cNvPr id="19015837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903246" y="2989676"/>
            <a:ext cx="6149771" cy="33654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287245" name="TextBox 1"/>
          <p:cNvSpPr txBox="1"/>
          <p:nvPr/>
        </p:nvSpPr>
        <p:spPr bwMode="auto">
          <a:xfrm>
            <a:off x="548640" y="22860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357"/>
                </a:solidFill>
                <a:latin typeface="Calibri"/>
              </a:defRPr>
            </a:pPr>
            <a:r>
              <a:rPr/>
              <a:t>Three routers in series</a:t>
            </a:r>
            <a:endParaRPr/>
          </a:p>
        </p:txBody>
      </p:sp>
      <p:sp>
        <p:nvSpPr>
          <p:cNvPr id="511474984" name="TextBox 2"/>
          <p:cNvSpPr txBox="1"/>
          <p:nvPr/>
        </p:nvSpPr>
        <p:spPr bwMode="auto">
          <a:xfrm>
            <a:off x="548640" y="1234440"/>
            <a:ext cx="6675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Four /24 networks end to end: 192.168.1.0 - .2.0 - .3.0 - .4.0.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PC0 192.168.1.2 gw .1.1; PC1 192.168.4.2 gw .4.1.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Each router learns 2 networks alone, so 2 static routes each (6 total).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Verify PC0 to PC1 ping across 3 hops + simulation Successful.</a:t>
            </a:r>
            <a:endParaRPr/>
          </a:p>
        </p:txBody>
      </p:sp>
      <p:sp>
        <p:nvSpPr>
          <p:cNvPr id="217147674" name="TextBox 5"/>
          <p:cNvSpPr txBox="1"/>
          <p:nvPr/>
        </p:nvSpPr>
        <p:spPr bwMode="auto"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rPr/>
              <a:t>CSE 360 - Networking Experiments Overview   |   8/11</a:t>
            </a:r>
            <a:endParaRPr/>
          </a:p>
        </p:txBody>
      </p:sp>
      <p:pic>
        <p:nvPicPr>
          <p:cNvPr id="7613032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675496" y="2360543"/>
            <a:ext cx="4769720" cy="43557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965321" name="TextBox 1"/>
          <p:cNvSpPr txBox="1"/>
          <p:nvPr/>
        </p:nvSpPr>
        <p:spPr bwMode="auto">
          <a:xfrm>
            <a:off x="548640" y="22860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357"/>
                </a:solidFill>
                <a:latin typeface="Calibri"/>
              </a:defRPr>
            </a:pPr>
            <a:r>
              <a:rPr/>
              <a:t>Mixed Ethernet + serial network</a:t>
            </a:r>
            <a:endParaRPr/>
          </a:p>
        </p:txBody>
      </p:sp>
      <p:sp>
        <p:nvSpPr>
          <p:cNvPr id="636148378" name="TextBox 2"/>
          <p:cNvSpPr txBox="1"/>
          <p:nvPr/>
        </p:nvSpPr>
        <p:spPr bwMode="auto">
          <a:xfrm>
            <a:off x="548640" y="1234440"/>
            <a:ext cx="6675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Same static-routing logic, now with serial links (s2/0, s3/0) plus FastEthernet.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tracert shows each hop.</a:t>
            </a:r>
            <a:endParaRPr/>
          </a:p>
        </p:txBody>
      </p:sp>
      <p:sp>
        <p:nvSpPr>
          <p:cNvPr id="719444564" name="TextBox 5"/>
          <p:cNvSpPr txBox="1"/>
          <p:nvPr/>
        </p:nvSpPr>
        <p:spPr bwMode="auto"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rPr/>
              <a:t>CSE 360 - Networking Experiments Overview   |   9/11</a:t>
            </a:r>
            <a:endParaRPr/>
          </a:p>
        </p:txBody>
      </p:sp>
      <p:pic>
        <p:nvPicPr>
          <p:cNvPr id="140907280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403365" y="1682492"/>
            <a:ext cx="6834786" cy="49926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346531" name="TextBox 1"/>
          <p:cNvSpPr txBox="1"/>
          <p:nvPr/>
        </p:nvSpPr>
        <p:spPr bwMode="auto">
          <a:xfrm>
            <a:off x="548640" y="22860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357"/>
                </a:solidFill>
                <a:latin typeface="Calibri"/>
              </a:defRPr>
            </a:pPr>
            <a:r>
              <a:rPr/>
              <a:t>VLANs with router-on-a-stick</a:t>
            </a:r>
            <a:endParaRPr/>
          </a:p>
        </p:txBody>
      </p:sp>
      <p:sp>
        <p:nvSpPr>
          <p:cNvPr id="1458240407" name="TextBox 2"/>
          <p:cNvSpPr txBox="1"/>
          <p:nvPr/>
        </p:nvSpPr>
        <p:spPr bwMode="auto">
          <a:xfrm>
            <a:off x="548640" y="1234440"/>
            <a:ext cx="6675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VLANs split one switch into virtual LANs, e.g. VLAN 10 = A, VLAN 20 = B.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PC ports = access mode (one VLAN); switch-to-router port = trunk (carries all).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Router uses subinterfaces (fa0/0.10, .20) with encapsulation dot1q + one IP per VLAN.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Same-VLAN PCs switch directly; cross-VLAN goes through the router.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DHCP variant: pools per VLAN + excluded-address for router IPs; PCs set to DHCP.</a:t>
            </a:r>
            <a:endParaRPr/>
          </a:p>
        </p:txBody>
      </p:sp>
      <p:sp>
        <p:nvSpPr>
          <p:cNvPr id="1764395087" name="TextBox 5"/>
          <p:cNvSpPr txBox="1"/>
          <p:nvPr/>
        </p:nvSpPr>
        <p:spPr bwMode="auto"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rPr/>
              <a:t>CSE 360 - Networking Experiments Overview   |   10/11</a:t>
            </a:r>
            <a:endParaRPr/>
          </a:p>
        </p:txBody>
      </p:sp>
      <p:pic>
        <p:nvPicPr>
          <p:cNvPr id="6240839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121548" y="1504673"/>
            <a:ext cx="4958668" cy="4388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567868" name="TextBox 1"/>
          <p:cNvSpPr txBox="1"/>
          <p:nvPr/>
        </p:nvSpPr>
        <p:spPr bwMode="auto">
          <a:xfrm>
            <a:off x="548640" y="22860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357"/>
                </a:solidFill>
                <a:latin typeface="Calibri"/>
              </a:defRPr>
            </a:pPr>
            <a:r>
              <a:rPr/>
              <a:t>Checks used in every lab</a:t>
            </a:r>
            <a:endParaRPr/>
          </a:p>
        </p:txBody>
      </p:sp>
      <p:sp>
        <p:nvSpPr>
          <p:cNvPr id="107753018" name="TextBox 2"/>
          <p:cNvSpPr txBox="1"/>
          <p:nvPr/>
        </p:nvSpPr>
        <p:spPr bwMode="auto">
          <a:xfrm>
            <a:off x="548640" y="1234440"/>
            <a:ext cx="6675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ping &lt;ip/name&gt;: IP first, then name (separates connectivity from DNS).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tracert: lists each router hop; ipconfig: my own address; arp -a: learned MACs.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rPr/>
              <a:t>•  Simulation mode: watch ICMP/ARP hop by hop; Successful = delivered.</a:t>
            </a:r>
            <a:endParaRPr/>
          </a:p>
        </p:txBody>
      </p:sp>
      <p:sp>
        <p:nvSpPr>
          <p:cNvPr id="78255115" name="TextBox 4"/>
          <p:cNvSpPr txBox="1"/>
          <p:nvPr/>
        </p:nvSpPr>
        <p:spPr bwMode="auto"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rPr/>
              <a:t>CSE 360 - Networking Experiments Overview   |   11/11</a:t>
            </a:r>
            <a:endParaRPr/>
          </a:p>
        </p:txBody>
      </p:sp>
      <p:pic>
        <p:nvPicPr>
          <p:cNvPr id="17115484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128999" y="2998214"/>
            <a:ext cx="6483880" cy="3516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3</cp:revision>
  <dcterms:created xsi:type="dcterms:W3CDTF">2013-01-27T09:14:16Z</dcterms:created>
  <dcterms:modified xsi:type="dcterms:W3CDTF">2026-10-15T05:55:06Z</dcterms:modified>
  <cp:category/>
</cp:coreProperties>
</file>